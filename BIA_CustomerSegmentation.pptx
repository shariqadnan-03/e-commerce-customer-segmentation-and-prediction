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Segments</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extLst>
              <c:ext xmlns:c16="http://schemas.microsoft.com/office/drawing/2014/chart" uri="{C3380CC4-5D6E-409C-BE32-E72D297353CC}">
                <c16:uniqueId val="{00000001-ACD8-435D-B919-8C76B2375E33}"/>
              </c:ext>
            </c:extLst>
          </c:dPt>
          <c:dPt>
            <c:idx val="1"/>
            <c:bubble3D val="0"/>
            <c:spPr>
              <a:solidFill>
                <a:srgbClr val="10B981"/>
              </a:solidFill>
              <a:effectLst/>
            </c:spPr>
            <c:extLst>
              <c:ext xmlns:c16="http://schemas.microsoft.com/office/drawing/2014/chart" uri="{C3380CC4-5D6E-409C-BE32-E72D297353CC}">
                <c16:uniqueId val="{00000003-ACD8-435D-B919-8C76B2375E33}"/>
              </c:ext>
            </c:extLst>
          </c:dPt>
          <c:dPt>
            <c:idx val="2"/>
            <c:bubble3D val="0"/>
            <c:spPr>
              <a:solidFill>
                <a:srgbClr val="F59E0B"/>
              </a:solidFill>
              <a:effectLst/>
            </c:spPr>
            <c:extLst>
              <c:ext xmlns:c16="http://schemas.microsoft.com/office/drawing/2014/chart" uri="{C3380CC4-5D6E-409C-BE32-E72D297353CC}">
                <c16:uniqueId val="{00000005-ACD8-435D-B919-8C76B2375E33}"/>
              </c:ext>
            </c:extLst>
          </c:dPt>
          <c:dPt>
            <c:idx val="3"/>
            <c:bubble3D val="0"/>
            <c:spPr>
              <a:solidFill>
                <a:srgbClr val="A855F7"/>
              </a:solidFill>
              <a:effectLst/>
            </c:spPr>
            <c:extLst>
              <c:ext xmlns:c16="http://schemas.microsoft.com/office/drawing/2014/chart" uri="{C3380CC4-5D6E-409C-BE32-E72D297353CC}">
                <c16:uniqueId val="{00000007-ACD8-435D-B919-8C76B2375E33}"/>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CD8-435D-B919-8C76B2375E33}"/>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CD8-435D-B919-8C76B2375E33}"/>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CD8-435D-B919-8C76B2375E33}"/>
                </c:ext>
              </c:extLst>
            </c:dLbl>
            <c:dLbl>
              <c:idx val="3"/>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CD8-435D-B919-8C76B2375E3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At-Risk / Churning</c:v>
                </c:pt>
                <c:pt idx="1">
                  <c:v>Loyal Regulars</c:v>
                </c:pt>
                <c:pt idx="2">
                  <c:v>Casual Buyers</c:v>
                </c:pt>
                <c:pt idx="3">
                  <c:v>VIP Segment</c:v>
                </c:pt>
              </c:strCache>
            </c:strRef>
          </c:cat>
          <c:val>
            <c:numRef>
              <c:f>Sheet1!$B$2:$B$5</c:f>
              <c:numCache>
                <c:formatCode>General</c:formatCode>
                <c:ptCount val="4"/>
                <c:pt idx="0">
                  <c:v>38.200000000000003</c:v>
                </c:pt>
                <c:pt idx="1">
                  <c:v>31.5</c:v>
                </c:pt>
                <c:pt idx="2">
                  <c:v>20.3</c:v>
                </c:pt>
                <c:pt idx="3">
                  <c:v>9.9</c:v>
                </c:pt>
              </c:numCache>
            </c:numRef>
          </c:val>
          <c:extLst>
            <c:ext xmlns:c16="http://schemas.microsoft.com/office/drawing/2014/chart" uri="{C3380CC4-5D6E-409C-BE32-E72D297353CC}">
              <c16:uniqueId val="{00000008-ACD8-435D-B919-8C76B2375E3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946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4E">
              <a:alpha val="45000"/>
            </a:srgbClr>
          </a:solidFill>
          <a:ln w="12700">
            <a:solidFill>
              <a:srgbClr val="0D1B4E"/>
            </a:solidFill>
            <a:prstDash val="solid"/>
          </a:ln>
        </p:spPr>
      </p:sp>
      <p:sp>
        <p:nvSpPr>
          <p:cNvPr id="3" name="Shape 1"/>
          <p:cNvSpPr/>
          <p:nvPr/>
        </p:nvSpPr>
        <p:spPr>
          <a:xfrm>
            <a:off x="0" y="1783080"/>
            <a:ext cx="9144000" cy="2011680"/>
          </a:xfrm>
          <a:prstGeom prst="rect">
            <a:avLst/>
          </a:prstGeom>
          <a:solidFill>
            <a:srgbClr val="0A1540"/>
          </a:solidFill>
          <a:ln w="12700">
            <a:solidFill>
              <a:srgbClr val="0A1540"/>
            </a:solidFill>
            <a:prstDash val="solid"/>
          </a:ln>
        </p:spPr>
      </p:sp>
      <p:sp>
        <p:nvSpPr>
          <p:cNvPr id="4" name="Text 2"/>
          <p:cNvSpPr/>
          <p:nvPr/>
        </p:nvSpPr>
        <p:spPr>
          <a:xfrm>
            <a:off x="731520" y="1783080"/>
            <a:ext cx="7680960" cy="1325880"/>
          </a:xfrm>
          <a:prstGeom prst="rect">
            <a:avLst/>
          </a:prstGeom>
          <a:noFill/>
          <a:ln/>
        </p:spPr>
        <p:txBody>
          <a:bodyPr wrap="square" lIns="0" tIns="0" rIns="0" bIns="0" rtlCol="0" anchor="ctr"/>
          <a:lstStyle/>
          <a:p>
            <a:pPr marL="0" indent="0" algn="ctr">
              <a:lnSpc>
                <a:spcPct val="120000"/>
              </a:lnSpc>
              <a:buNone/>
            </a:pPr>
            <a:r>
              <a:rPr lang="en-US" sz="3600" b="1" dirty="0">
                <a:solidFill>
                  <a:srgbClr val="FFFFFF"/>
                </a:solidFill>
                <a:latin typeface="Calibri" pitchFamily="34" charset="0"/>
                <a:ea typeface="Calibri" pitchFamily="34" charset="-122"/>
                <a:cs typeface="Calibri" pitchFamily="34" charset="-120"/>
              </a:rPr>
              <a:t>E-Commerce Customer</a:t>
            </a:r>
            <a:endParaRPr lang="en-US" sz="3600" dirty="0"/>
          </a:p>
          <a:p>
            <a:pPr marL="0" indent="0" algn="ctr">
              <a:lnSpc>
                <a:spcPct val="120000"/>
              </a:lnSpc>
              <a:buNone/>
            </a:pPr>
            <a:r>
              <a:rPr lang="en-US" sz="3600" b="1" dirty="0">
                <a:solidFill>
                  <a:srgbClr val="FFFFFF"/>
                </a:solidFill>
                <a:latin typeface="Calibri" pitchFamily="34" charset="0"/>
                <a:ea typeface="Calibri" pitchFamily="34" charset="-122"/>
                <a:cs typeface="Calibri" pitchFamily="34" charset="-120"/>
              </a:rPr>
              <a:t>Market Segmentation</a:t>
            </a:r>
            <a:endParaRPr lang="en-US" sz="3600" dirty="0"/>
          </a:p>
        </p:txBody>
      </p:sp>
      <p:sp>
        <p:nvSpPr>
          <p:cNvPr id="5" name="Text 3"/>
          <p:cNvSpPr/>
          <p:nvPr/>
        </p:nvSpPr>
        <p:spPr>
          <a:xfrm>
            <a:off x="731520" y="3200400"/>
            <a:ext cx="7680960" cy="347472"/>
          </a:xfrm>
          <a:prstGeom prst="rect">
            <a:avLst/>
          </a:prstGeom>
          <a:noFill/>
          <a:ln/>
        </p:spPr>
        <p:txBody>
          <a:bodyPr wrap="square" lIns="0" tIns="0" rIns="0" bIns="0" rtlCol="0" anchor="ctr"/>
          <a:lstStyle/>
          <a:p>
            <a:pPr marL="0" indent="0" algn="ctr">
              <a:buNone/>
            </a:pPr>
            <a:r>
              <a:rPr lang="en-US" sz="1200" dirty="0">
                <a:solidFill>
                  <a:srgbClr val="A0C8FF"/>
                </a:solidFill>
                <a:latin typeface="Calibri" pitchFamily="34" charset="0"/>
                <a:ea typeface="Calibri" pitchFamily="34" charset="-122"/>
                <a:cs typeface="Calibri" pitchFamily="34" charset="-120"/>
              </a:rPr>
              <a:t>Shariq Adnan   |   Data Science with AI   |   Boston Institute of Analytics</a:t>
            </a:r>
            <a:endParaRPr lang="en-US" sz="1200" dirty="0"/>
          </a:p>
        </p:txBody>
      </p:sp>
      <p:sp>
        <p:nvSpPr>
          <p:cNvPr id="6" name="Text 4"/>
          <p:cNvSpPr/>
          <p:nvPr/>
        </p:nvSpPr>
        <p:spPr>
          <a:xfrm>
            <a:off x="274320" y="4828032"/>
            <a:ext cx="8595360" cy="201168"/>
          </a:xfrm>
          <a:prstGeom prst="rect">
            <a:avLst/>
          </a:prstGeom>
          <a:noFill/>
          <a:ln/>
        </p:spPr>
        <p:txBody>
          <a:bodyPr wrap="square" lIns="0" tIns="0" rIns="0" bIns="0" rtlCol="0" anchor="ctr"/>
          <a:lstStyle/>
          <a:p>
            <a:pPr marL="0" indent="0" algn="ctr">
              <a:buNone/>
            </a:pPr>
            <a:r>
              <a:rPr lang="en-US" sz="600" i="1" dirty="0">
                <a:solidFill>
                  <a:srgbClr val="A0AEC0"/>
                </a:solidFill>
              </a:rPr>
              <a:t>CONFIDENTIAL: The information in this document belongs to Boston Institute of Analytics LLC.</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Agenda</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Shape 7"/>
          <p:cNvSpPr/>
          <p:nvPr/>
        </p:nvSpPr>
        <p:spPr>
          <a:xfrm>
            <a:off x="365760" y="804672"/>
            <a:ext cx="2697480" cy="1115568"/>
          </a:xfrm>
          <a:prstGeom prst="rect">
            <a:avLst/>
          </a:prstGeom>
          <a:solidFill>
            <a:srgbClr val="1B2763"/>
          </a:solidFill>
          <a:ln w="6350">
            <a:solidFill>
              <a:srgbClr val="1B2763"/>
            </a:solidFill>
            <a:prstDash val="solid"/>
          </a:ln>
          <a:effectLst>
            <a:outerShdw blurRad="63500" dist="25400" dir="8100000" algn="bl" rotWithShape="0">
              <a:srgbClr val="000000">
                <a:alpha val="12000"/>
              </a:srgbClr>
            </a:outerShdw>
          </a:effectLst>
        </p:spPr>
      </p:sp>
      <p:sp>
        <p:nvSpPr>
          <p:cNvPr id="10" name="Text 8"/>
          <p:cNvSpPr/>
          <p:nvPr/>
        </p:nvSpPr>
        <p:spPr>
          <a:xfrm>
            <a:off x="493776" y="877824"/>
            <a:ext cx="457200" cy="347472"/>
          </a:xfrm>
          <a:prstGeom prst="rect">
            <a:avLst/>
          </a:prstGeom>
          <a:noFill/>
          <a:ln/>
        </p:spPr>
        <p:txBody>
          <a:bodyPr wrap="square" lIns="0" tIns="0" rIns="0" bIns="0" rtlCol="0" anchor="ctr"/>
          <a:lstStyle/>
          <a:p>
            <a:pPr marL="0" indent="0" algn="l">
              <a:buNone/>
            </a:pPr>
            <a:r>
              <a:rPr lang="en-US" sz="2000" b="1" dirty="0">
                <a:solidFill>
                  <a:srgbClr val="A0C8FF"/>
                </a:solidFill>
              </a:rPr>
              <a:t>01</a:t>
            </a:r>
            <a:endParaRPr lang="en-US" sz="2000" dirty="0"/>
          </a:p>
        </p:txBody>
      </p:sp>
      <p:sp>
        <p:nvSpPr>
          <p:cNvPr id="11" name="Text 9"/>
          <p:cNvSpPr/>
          <p:nvPr/>
        </p:nvSpPr>
        <p:spPr>
          <a:xfrm>
            <a:off x="493776" y="1261872"/>
            <a:ext cx="2487168" cy="566928"/>
          </a:xfrm>
          <a:prstGeom prst="rect">
            <a:avLst/>
          </a:prstGeom>
          <a:noFill/>
          <a:ln/>
        </p:spPr>
        <p:txBody>
          <a:bodyPr wrap="square" lIns="0" tIns="0" rIns="0" bIns="0" rtlCol="0" anchor="t"/>
          <a:lstStyle/>
          <a:p>
            <a:pPr marL="0" indent="0" algn="l">
              <a:buNone/>
            </a:pPr>
            <a:r>
              <a:rPr lang="en-US" sz="950" dirty="0">
                <a:solidFill>
                  <a:srgbClr val="FFFFFF"/>
                </a:solidFill>
              </a:rPr>
              <a:t>Introduction &amp; Problem Statement</a:t>
            </a:r>
            <a:endParaRPr lang="en-US" sz="950" dirty="0"/>
          </a:p>
        </p:txBody>
      </p:sp>
      <p:sp>
        <p:nvSpPr>
          <p:cNvPr id="12" name="Shape 10"/>
          <p:cNvSpPr/>
          <p:nvPr/>
        </p:nvSpPr>
        <p:spPr>
          <a:xfrm>
            <a:off x="3218688" y="804672"/>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13" name="Text 11"/>
          <p:cNvSpPr/>
          <p:nvPr/>
        </p:nvSpPr>
        <p:spPr>
          <a:xfrm>
            <a:off x="3346704" y="877824"/>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02</a:t>
            </a:r>
            <a:endParaRPr lang="en-US" sz="2000" dirty="0"/>
          </a:p>
        </p:txBody>
      </p:sp>
      <p:sp>
        <p:nvSpPr>
          <p:cNvPr id="14" name="Text 12"/>
          <p:cNvSpPr/>
          <p:nvPr/>
        </p:nvSpPr>
        <p:spPr>
          <a:xfrm>
            <a:off x="3346704" y="1261872"/>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Dataset Overview</a:t>
            </a:r>
            <a:endParaRPr lang="en-US" sz="950" dirty="0"/>
          </a:p>
        </p:txBody>
      </p:sp>
      <p:sp>
        <p:nvSpPr>
          <p:cNvPr id="15" name="Shape 13"/>
          <p:cNvSpPr/>
          <p:nvPr/>
        </p:nvSpPr>
        <p:spPr>
          <a:xfrm>
            <a:off x="6071616" y="804672"/>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16" name="Text 14"/>
          <p:cNvSpPr/>
          <p:nvPr/>
        </p:nvSpPr>
        <p:spPr>
          <a:xfrm>
            <a:off x="6199632" y="877824"/>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03</a:t>
            </a:r>
            <a:endParaRPr lang="en-US" sz="2000" dirty="0"/>
          </a:p>
        </p:txBody>
      </p:sp>
      <p:sp>
        <p:nvSpPr>
          <p:cNvPr id="17" name="Text 15"/>
          <p:cNvSpPr/>
          <p:nvPr/>
        </p:nvSpPr>
        <p:spPr>
          <a:xfrm>
            <a:off x="6199632" y="1261872"/>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EDA: Market Insights</a:t>
            </a:r>
            <a:endParaRPr lang="en-US" sz="950" dirty="0"/>
          </a:p>
        </p:txBody>
      </p:sp>
      <p:sp>
        <p:nvSpPr>
          <p:cNvPr id="18" name="Shape 16"/>
          <p:cNvSpPr/>
          <p:nvPr/>
        </p:nvSpPr>
        <p:spPr>
          <a:xfrm>
            <a:off x="365760" y="2066544"/>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19" name="Text 17"/>
          <p:cNvSpPr/>
          <p:nvPr/>
        </p:nvSpPr>
        <p:spPr>
          <a:xfrm>
            <a:off x="493776" y="2139696"/>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04</a:t>
            </a:r>
            <a:endParaRPr lang="en-US" sz="2000" dirty="0"/>
          </a:p>
        </p:txBody>
      </p:sp>
      <p:sp>
        <p:nvSpPr>
          <p:cNvPr id="20" name="Text 18"/>
          <p:cNvSpPr/>
          <p:nvPr/>
        </p:nvSpPr>
        <p:spPr>
          <a:xfrm>
            <a:off x="493776" y="2523744"/>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EDA: Temporal Patterns</a:t>
            </a:r>
            <a:endParaRPr lang="en-US" sz="950" dirty="0"/>
          </a:p>
        </p:txBody>
      </p:sp>
      <p:sp>
        <p:nvSpPr>
          <p:cNvPr id="21" name="Shape 19"/>
          <p:cNvSpPr/>
          <p:nvPr/>
        </p:nvSpPr>
        <p:spPr>
          <a:xfrm>
            <a:off x="3218688" y="2066544"/>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22" name="Text 20"/>
          <p:cNvSpPr/>
          <p:nvPr/>
        </p:nvSpPr>
        <p:spPr>
          <a:xfrm>
            <a:off x="3346704" y="2139696"/>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05</a:t>
            </a:r>
            <a:endParaRPr lang="en-US" sz="2000" dirty="0"/>
          </a:p>
        </p:txBody>
      </p:sp>
      <p:sp>
        <p:nvSpPr>
          <p:cNvPr id="23" name="Text 21"/>
          <p:cNvSpPr/>
          <p:nvPr/>
        </p:nvSpPr>
        <p:spPr>
          <a:xfrm>
            <a:off x="3346704" y="2523744"/>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RFM Analysis</a:t>
            </a:r>
            <a:endParaRPr lang="en-US" sz="950" dirty="0"/>
          </a:p>
        </p:txBody>
      </p:sp>
      <p:sp>
        <p:nvSpPr>
          <p:cNvPr id="24" name="Shape 22"/>
          <p:cNvSpPr/>
          <p:nvPr/>
        </p:nvSpPr>
        <p:spPr>
          <a:xfrm>
            <a:off x="6071616" y="2066544"/>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25" name="Text 23"/>
          <p:cNvSpPr/>
          <p:nvPr/>
        </p:nvSpPr>
        <p:spPr>
          <a:xfrm>
            <a:off x="6199632" y="2139696"/>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06</a:t>
            </a:r>
            <a:endParaRPr lang="en-US" sz="2000" dirty="0"/>
          </a:p>
        </p:txBody>
      </p:sp>
      <p:sp>
        <p:nvSpPr>
          <p:cNvPr id="26" name="Text 24"/>
          <p:cNvSpPr/>
          <p:nvPr/>
        </p:nvSpPr>
        <p:spPr>
          <a:xfrm>
            <a:off x="6199632" y="2523744"/>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Pre-Processing &amp; Optimal K</a:t>
            </a:r>
            <a:endParaRPr lang="en-US" sz="950" dirty="0"/>
          </a:p>
        </p:txBody>
      </p:sp>
      <p:sp>
        <p:nvSpPr>
          <p:cNvPr id="27" name="Shape 25"/>
          <p:cNvSpPr/>
          <p:nvPr/>
        </p:nvSpPr>
        <p:spPr>
          <a:xfrm>
            <a:off x="365760" y="3328416"/>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28" name="Text 26"/>
          <p:cNvSpPr/>
          <p:nvPr/>
        </p:nvSpPr>
        <p:spPr>
          <a:xfrm>
            <a:off x="493776" y="3401568"/>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07</a:t>
            </a:r>
            <a:endParaRPr lang="en-US" sz="2000" dirty="0"/>
          </a:p>
        </p:txBody>
      </p:sp>
      <p:sp>
        <p:nvSpPr>
          <p:cNvPr id="29" name="Text 27"/>
          <p:cNvSpPr/>
          <p:nvPr/>
        </p:nvSpPr>
        <p:spPr>
          <a:xfrm>
            <a:off x="493776" y="3785616"/>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Customer Segments</a:t>
            </a:r>
            <a:endParaRPr lang="en-US" sz="950" dirty="0"/>
          </a:p>
        </p:txBody>
      </p:sp>
      <p:sp>
        <p:nvSpPr>
          <p:cNvPr id="30" name="Shape 28"/>
          <p:cNvSpPr/>
          <p:nvPr/>
        </p:nvSpPr>
        <p:spPr>
          <a:xfrm>
            <a:off x="3218688" y="3328416"/>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31" name="Text 29"/>
          <p:cNvSpPr/>
          <p:nvPr/>
        </p:nvSpPr>
        <p:spPr>
          <a:xfrm>
            <a:off x="3346704" y="3401568"/>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08</a:t>
            </a:r>
            <a:endParaRPr lang="en-US" sz="2000" dirty="0"/>
          </a:p>
        </p:txBody>
      </p:sp>
      <p:sp>
        <p:nvSpPr>
          <p:cNvPr id="32" name="Text 30"/>
          <p:cNvSpPr/>
          <p:nvPr/>
        </p:nvSpPr>
        <p:spPr>
          <a:xfrm>
            <a:off x="3346704" y="3785616"/>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Classification Model &amp; Results</a:t>
            </a:r>
            <a:endParaRPr lang="en-US" sz="950" dirty="0"/>
          </a:p>
        </p:txBody>
      </p:sp>
      <p:sp>
        <p:nvSpPr>
          <p:cNvPr id="33" name="Shape 31"/>
          <p:cNvSpPr/>
          <p:nvPr/>
        </p:nvSpPr>
        <p:spPr>
          <a:xfrm>
            <a:off x="6071616" y="3328416"/>
            <a:ext cx="2697480" cy="1115568"/>
          </a:xfrm>
          <a:prstGeom prst="rect">
            <a:avLst/>
          </a:prstGeom>
          <a:solidFill>
            <a:srgbClr val="F5F7FA"/>
          </a:solidFill>
          <a:ln w="6350">
            <a:solidFill>
              <a:srgbClr val="E2E8F0"/>
            </a:solidFill>
            <a:prstDash val="solid"/>
          </a:ln>
          <a:effectLst>
            <a:outerShdw blurRad="63500" dist="25400" dir="8100000" algn="bl" rotWithShape="0">
              <a:srgbClr val="000000">
                <a:alpha val="12000"/>
              </a:srgbClr>
            </a:outerShdw>
          </a:effectLst>
        </p:spPr>
      </p:sp>
      <p:sp>
        <p:nvSpPr>
          <p:cNvPr id="34" name="Text 32"/>
          <p:cNvSpPr/>
          <p:nvPr/>
        </p:nvSpPr>
        <p:spPr>
          <a:xfrm>
            <a:off x="6199632" y="3401568"/>
            <a:ext cx="457200" cy="347472"/>
          </a:xfrm>
          <a:prstGeom prst="rect">
            <a:avLst/>
          </a:prstGeom>
          <a:noFill/>
          <a:ln/>
        </p:spPr>
        <p:txBody>
          <a:bodyPr wrap="square" lIns="0" tIns="0" rIns="0" bIns="0" rtlCol="0" anchor="ctr"/>
          <a:lstStyle/>
          <a:p>
            <a:pPr marL="0" indent="0" algn="l">
              <a:buNone/>
            </a:pPr>
            <a:r>
              <a:rPr lang="en-US" sz="2000" b="1" dirty="0">
                <a:solidFill>
                  <a:srgbClr val="4A90D9"/>
                </a:solidFill>
              </a:rPr>
              <a:t>09</a:t>
            </a:r>
            <a:endParaRPr lang="en-US" sz="2000" dirty="0"/>
          </a:p>
        </p:txBody>
      </p:sp>
      <p:sp>
        <p:nvSpPr>
          <p:cNvPr id="35" name="Text 33"/>
          <p:cNvSpPr/>
          <p:nvPr/>
        </p:nvSpPr>
        <p:spPr>
          <a:xfrm>
            <a:off x="6199632" y="3785616"/>
            <a:ext cx="2487168" cy="566928"/>
          </a:xfrm>
          <a:prstGeom prst="rect">
            <a:avLst/>
          </a:prstGeom>
          <a:noFill/>
          <a:ln/>
        </p:spPr>
        <p:txBody>
          <a:bodyPr wrap="square" lIns="0" tIns="0" rIns="0" bIns="0" rtlCol="0" anchor="t"/>
          <a:lstStyle/>
          <a:p>
            <a:pPr marL="0" indent="0" algn="l">
              <a:buNone/>
            </a:pPr>
            <a:r>
              <a:rPr lang="en-US" sz="950" dirty="0">
                <a:solidFill>
                  <a:srgbClr val="1B2763"/>
                </a:solidFill>
              </a:rPr>
              <a:t>Conclusion &amp; Business Impact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Introduction &amp; Problem Statement</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Shape 7"/>
          <p:cNvSpPr/>
          <p:nvPr/>
        </p:nvSpPr>
        <p:spPr>
          <a:xfrm>
            <a:off x="5623560" y="64008"/>
            <a:ext cx="3520440" cy="4690872"/>
          </a:xfrm>
          <a:prstGeom prst="rect">
            <a:avLst/>
          </a:prstGeom>
          <a:solidFill>
            <a:srgbClr val="1B2763"/>
          </a:solidFill>
          <a:ln w="12700">
            <a:solidFill>
              <a:srgbClr val="1B2763"/>
            </a:solidFill>
            <a:prstDash val="solid"/>
          </a:ln>
        </p:spPr>
      </p:sp>
      <p:sp>
        <p:nvSpPr>
          <p:cNvPr id="10" name="Text 8"/>
          <p:cNvSpPr/>
          <p:nvPr/>
        </p:nvSpPr>
        <p:spPr>
          <a:xfrm>
            <a:off x="5715000" y="256032"/>
            <a:ext cx="3337560" cy="274320"/>
          </a:xfrm>
          <a:prstGeom prst="rect">
            <a:avLst/>
          </a:prstGeom>
          <a:noFill/>
          <a:ln/>
        </p:spPr>
        <p:txBody>
          <a:bodyPr wrap="square" lIns="0" tIns="0" rIns="0" bIns="0" rtlCol="0" anchor="ctr"/>
          <a:lstStyle/>
          <a:p>
            <a:pPr marL="0" indent="0" algn="ctr">
              <a:buNone/>
            </a:pPr>
            <a:r>
              <a:rPr lang="en-US" sz="900" b="1" kern="0" spc="200" dirty="0">
                <a:solidFill>
                  <a:srgbClr val="A0C8FF"/>
                </a:solidFill>
              </a:rPr>
              <a:t>AT A GLANCE</a:t>
            </a:r>
            <a:endParaRPr lang="en-US" sz="900" dirty="0"/>
          </a:p>
        </p:txBody>
      </p:sp>
      <p:sp>
        <p:nvSpPr>
          <p:cNvPr id="11" name="Shape 9"/>
          <p:cNvSpPr/>
          <p:nvPr/>
        </p:nvSpPr>
        <p:spPr>
          <a:xfrm>
            <a:off x="5760720" y="1423399"/>
            <a:ext cx="3246120" cy="652652"/>
          </a:xfrm>
          <a:prstGeom prst="rect">
            <a:avLst/>
          </a:prstGeom>
          <a:solidFill>
            <a:srgbClr val="2E5FA3"/>
          </a:solidFill>
          <a:ln w="12700">
            <a:solidFill>
              <a:srgbClr val="2E5FA3"/>
            </a:solidFill>
            <a:prstDash val="solid"/>
          </a:ln>
          <a:effectLst>
            <a:outerShdw blurRad="63500" dist="25400" dir="8100000" algn="bl" rotWithShape="0">
              <a:srgbClr val="000000">
                <a:alpha val="12000"/>
              </a:srgbClr>
            </a:outerShdw>
          </a:effectLst>
        </p:spPr>
      </p:sp>
      <p:sp>
        <p:nvSpPr>
          <p:cNvPr id="12" name="Text 10"/>
          <p:cNvSpPr/>
          <p:nvPr/>
        </p:nvSpPr>
        <p:spPr>
          <a:xfrm>
            <a:off x="5760720" y="1424825"/>
            <a:ext cx="3246120" cy="329761"/>
          </a:xfrm>
          <a:prstGeom prst="rect">
            <a:avLst/>
          </a:prstGeom>
          <a:noFill/>
          <a:ln/>
        </p:spPr>
        <p:txBody>
          <a:bodyPr wrap="square" lIns="0" tIns="0" rIns="0" bIns="0" rtlCol="0" anchor="ctr"/>
          <a:lstStyle/>
          <a:p>
            <a:pPr marL="0" indent="0" algn="ctr">
              <a:buNone/>
            </a:pPr>
            <a:r>
              <a:rPr lang="en-US" sz="2200" b="1" dirty="0">
                <a:solidFill>
                  <a:srgbClr val="FFFFFF"/>
                </a:solidFill>
              </a:rPr>
              <a:t>4,335</a:t>
            </a:r>
            <a:endParaRPr lang="en-US" sz="2200" dirty="0"/>
          </a:p>
        </p:txBody>
      </p:sp>
      <p:sp>
        <p:nvSpPr>
          <p:cNvPr id="13" name="Text 11"/>
          <p:cNvSpPr/>
          <p:nvPr/>
        </p:nvSpPr>
        <p:spPr>
          <a:xfrm>
            <a:off x="5760720" y="1861559"/>
            <a:ext cx="3246120" cy="206101"/>
          </a:xfrm>
          <a:prstGeom prst="rect">
            <a:avLst/>
          </a:prstGeom>
          <a:noFill/>
          <a:ln/>
        </p:spPr>
        <p:txBody>
          <a:bodyPr wrap="square" lIns="0" tIns="0" rIns="0" bIns="0" rtlCol="0" anchor="ctr"/>
          <a:lstStyle/>
          <a:p>
            <a:pPr marL="0" indent="0" algn="ctr">
              <a:buNone/>
            </a:pPr>
            <a:r>
              <a:rPr lang="en-US" sz="900" dirty="0">
                <a:solidFill>
                  <a:srgbClr val="D4E8FF"/>
                </a:solidFill>
              </a:rPr>
              <a:t>Customers Profiled</a:t>
            </a:r>
            <a:endParaRPr lang="en-US" sz="900" dirty="0"/>
          </a:p>
        </p:txBody>
      </p:sp>
      <p:sp>
        <p:nvSpPr>
          <p:cNvPr id="14" name="Shape 12"/>
          <p:cNvSpPr/>
          <p:nvPr/>
        </p:nvSpPr>
        <p:spPr>
          <a:xfrm>
            <a:off x="5760720" y="2188662"/>
            <a:ext cx="3246120" cy="717917"/>
          </a:xfrm>
          <a:prstGeom prst="rect">
            <a:avLst/>
          </a:prstGeom>
          <a:solidFill>
            <a:srgbClr val="1A5276"/>
          </a:solidFill>
          <a:ln w="12700">
            <a:solidFill>
              <a:srgbClr val="1A5276"/>
            </a:solidFill>
            <a:prstDash val="solid"/>
          </a:ln>
          <a:effectLst>
            <a:outerShdw blurRad="63500" dist="25400" dir="8100000" algn="bl" rotWithShape="0">
              <a:srgbClr val="000000">
                <a:alpha val="12000"/>
              </a:srgbClr>
            </a:outerShdw>
          </a:effectLst>
        </p:spPr>
      </p:sp>
      <p:sp>
        <p:nvSpPr>
          <p:cNvPr id="15" name="Text 13"/>
          <p:cNvSpPr/>
          <p:nvPr/>
        </p:nvSpPr>
        <p:spPr>
          <a:xfrm>
            <a:off x="5760720" y="2206232"/>
            <a:ext cx="3246120" cy="362737"/>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6" name="Text 14"/>
          <p:cNvSpPr/>
          <p:nvPr/>
        </p:nvSpPr>
        <p:spPr>
          <a:xfrm>
            <a:off x="5760720" y="2649149"/>
            <a:ext cx="3246120" cy="226711"/>
          </a:xfrm>
          <a:prstGeom prst="rect">
            <a:avLst/>
          </a:prstGeom>
          <a:noFill/>
          <a:ln/>
        </p:spPr>
        <p:txBody>
          <a:bodyPr wrap="square" lIns="0" tIns="0" rIns="0" bIns="0" rtlCol="0" anchor="ctr"/>
          <a:lstStyle/>
          <a:p>
            <a:pPr marL="0" indent="0" algn="ctr">
              <a:buNone/>
            </a:pPr>
            <a:r>
              <a:rPr lang="en-US" sz="900" dirty="0">
                <a:solidFill>
                  <a:srgbClr val="D4E8FF"/>
                </a:solidFill>
              </a:rPr>
              <a:t>Segments Discovered</a:t>
            </a:r>
            <a:endParaRPr lang="en-US" sz="900" dirty="0"/>
          </a:p>
        </p:txBody>
      </p:sp>
      <p:sp>
        <p:nvSpPr>
          <p:cNvPr id="17" name="Shape 15"/>
          <p:cNvSpPr/>
          <p:nvPr/>
        </p:nvSpPr>
        <p:spPr>
          <a:xfrm>
            <a:off x="5760720" y="3004841"/>
            <a:ext cx="3246120" cy="789709"/>
          </a:xfrm>
          <a:prstGeom prst="rect">
            <a:avLst/>
          </a:prstGeom>
          <a:solidFill>
            <a:srgbClr val="145A32"/>
          </a:solidFill>
          <a:ln w="12700">
            <a:solidFill>
              <a:srgbClr val="145A32"/>
            </a:solidFill>
            <a:prstDash val="solid"/>
          </a:ln>
          <a:effectLst>
            <a:outerShdw blurRad="63500" dist="25400" dir="8100000" algn="bl" rotWithShape="0">
              <a:srgbClr val="000000">
                <a:alpha val="12000"/>
              </a:srgbClr>
            </a:outerShdw>
          </a:effectLst>
        </p:spPr>
      </p:sp>
      <p:sp>
        <p:nvSpPr>
          <p:cNvPr id="18" name="Text 16"/>
          <p:cNvSpPr/>
          <p:nvPr/>
        </p:nvSpPr>
        <p:spPr>
          <a:xfrm>
            <a:off x="5760720" y="3020219"/>
            <a:ext cx="3246120" cy="438912"/>
          </a:xfrm>
          <a:prstGeom prst="rect">
            <a:avLst/>
          </a:prstGeom>
          <a:noFill/>
          <a:ln/>
        </p:spPr>
        <p:txBody>
          <a:bodyPr wrap="square" lIns="0" tIns="0" rIns="0" bIns="0" rtlCol="0" anchor="ctr"/>
          <a:lstStyle/>
          <a:p>
            <a:pPr marL="0" indent="0" algn="ctr">
              <a:buNone/>
            </a:pPr>
            <a:r>
              <a:rPr lang="en-US" sz="2200" b="1" dirty="0">
                <a:solidFill>
                  <a:srgbClr val="FFFFFF"/>
                </a:solidFill>
              </a:rPr>
              <a:t>99.65%</a:t>
            </a:r>
            <a:endParaRPr lang="en-US" sz="2200" dirty="0"/>
          </a:p>
        </p:txBody>
      </p:sp>
      <p:sp>
        <p:nvSpPr>
          <p:cNvPr id="19" name="Text 17"/>
          <p:cNvSpPr/>
          <p:nvPr/>
        </p:nvSpPr>
        <p:spPr>
          <a:xfrm>
            <a:off x="5760720" y="3477419"/>
            <a:ext cx="3246120" cy="274320"/>
          </a:xfrm>
          <a:prstGeom prst="rect">
            <a:avLst/>
          </a:prstGeom>
          <a:noFill/>
          <a:ln/>
        </p:spPr>
        <p:txBody>
          <a:bodyPr wrap="square" lIns="0" tIns="0" rIns="0" bIns="0" rtlCol="0" anchor="ctr"/>
          <a:lstStyle/>
          <a:p>
            <a:pPr marL="0" indent="0" algn="ctr">
              <a:buNone/>
            </a:pPr>
            <a:r>
              <a:rPr lang="en-US" sz="900" dirty="0">
                <a:solidFill>
                  <a:srgbClr val="D4E8FF"/>
                </a:solidFill>
              </a:rPr>
              <a:t>Classification Accuracy</a:t>
            </a:r>
            <a:endParaRPr lang="en-US" sz="900" dirty="0"/>
          </a:p>
        </p:txBody>
      </p:sp>
      <p:sp>
        <p:nvSpPr>
          <p:cNvPr id="20" name="Shape 18"/>
          <p:cNvSpPr/>
          <p:nvPr/>
        </p:nvSpPr>
        <p:spPr>
          <a:xfrm>
            <a:off x="5760720" y="3892495"/>
            <a:ext cx="3246120" cy="717917"/>
          </a:xfrm>
          <a:prstGeom prst="rect">
            <a:avLst/>
          </a:prstGeom>
          <a:solidFill>
            <a:srgbClr val="6C3483"/>
          </a:solidFill>
          <a:ln w="12700">
            <a:solidFill>
              <a:srgbClr val="6C3483"/>
            </a:solidFill>
            <a:prstDash val="solid"/>
          </a:ln>
          <a:effectLst>
            <a:outerShdw blurRad="63500" dist="25400" dir="8100000" algn="bl" rotWithShape="0">
              <a:srgbClr val="000000">
                <a:alpha val="12000"/>
              </a:srgbClr>
            </a:outerShdw>
          </a:effectLst>
        </p:spPr>
      </p:sp>
      <p:sp>
        <p:nvSpPr>
          <p:cNvPr id="21" name="Text 19"/>
          <p:cNvSpPr/>
          <p:nvPr/>
        </p:nvSpPr>
        <p:spPr>
          <a:xfrm>
            <a:off x="5760720" y="3919526"/>
            <a:ext cx="3246120" cy="317395"/>
          </a:xfrm>
          <a:prstGeom prst="rect">
            <a:avLst/>
          </a:prstGeom>
          <a:noFill/>
          <a:ln/>
        </p:spPr>
        <p:txBody>
          <a:bodyPr wrap="square" lIns="0" tIns="0" rIns="0" bIns="0" rtlCol="0" anchor="ctr"/>
          <a:lstStyle/>
          <a:p>
            <a:pPr marL="0" indent="0" algn="ctr">
              <a:buNone/>
            </a:pPr>
            <a:r>
              <a:rPr lang="en-US" sz="2200" b="1" dirty="0">
                <a:solidFill>
                  <a:srgbClr val="FFFFFF"/>
                </a:solidFill>
              </a:rPr>
              <a:t>44</a:t>
            </a:r>
            <a:endParaRPr lang="en-US" sz="2200" dirty="0"/>
          </a:p>
        </p:txBody>
      </p:sp>
      <p:sp>
        <p:nvSpPr>
          <p:cNvPr id="22" name="Text 20"/>
          <p:cNvSpPr/>
          <p:nvPr/>
        </p:nvSpPr>
        <p:spPr>
          <a:xfrm>
            <a:off x="5760720" y="4371185"/>
            <a:ext cx="3246120" cy="226711"/>
          </a:xfrm>
          <a:prstGeom prst="rect">
            <a:avLst/>
          </a:prstGeom>
          <a:noFill/>
          <a:ln/>
        </p:spPr>
        <p:txBody>
          <a:bodyPr wrap="square" lIns="0" tIns="0" rIns="0" bIns="0" rtlCol="0" anchor="ctr"/>
          <a:lstStyle/>
          <a:p>
            <a:pPr marL="0" indent="0" algn="ctr">
              <a:buNone/>
            </a:pPr>
            <a:r>
              <a:rPr lang="en-US" sz="900" dirty="0">
                <a:solidFill>
                  <a:srgbClr val="D4E8FF"/>
                </a:solidFill>
              </a:rPr>
              <a:t>VIP Customers Isolated</a:t>
            </a:r>
            <a:endParaRPr lang="en-US" sz="900" dirty="0"/>
          </a:p>
        </p:txBody>
      </p:sp>
      <p:sp>
        <p:nvSpPr>
          <p:cNvPr id="23" name="Text 21"/>
          <p:cNvSpPr/>
          <p:nvPr/>
        </p:nvSpPr>
        <p:spPr>
          <a:xfrm>
            <a:off x="365760" y="749808"/>
            <a:ext cx="5074920" cy="310896"/>
          </a:xfrm>
          <a:prstGeom prst="rect">
            <a:avLst/>
          </a:prstGeom>
          <a:noFill/>
          <a:ln/>
        </p:spPr>
        <p:txBody>
          <a:bodyPr wrap="square" lIns="0" tIns="0" rIns="0" bIns="0" rtlCol="0" anchor="ctr"/>
          <a:lstStyle/>
          <a:p>
            <a:pPr marL="0" indent="0">
              <a:buNone/>
            </a:pPr>
            <a:r>
              <a:rPr lang="en-US" sz="1300" b="1" dirty="0">
                <a:solidFill>
                  <a:srgbClr val="1B2763"/>
                </a:solidFill>
              </a:rPr>
              <a:t>What is this project about?</a:t>
            </a:r>
            <a:endParaRPr lang="en-US" sz="1300" dirty="0"/>
          </a:p>
        </p:txBody>
      </p:sp>
      <p:sp>
        <p:nvSpPr>
          <p:cNvPr id="24" name="Text 22"/>
          <p:cNvSpPr/>
          <p:nvPr/>
        </p:nvSpPr>
        <p:spPr>
          <a:xfrm>
            <a:off x="365760" y="1097280"/>
            <a:ext cx="5074920" cy="822960"/>
          </a:xfrm>
          <a:prstGeom prst="rect">
            <a:avLst/>
          </a:prstGeom>
          <a:noFill/>
          <a:ln/>
        </p:spPr>
        <p:txBody>
          <a:bodyPr wrap="square" lIns="0" tIns="0" rIns="0" bIns="0" rtlCol="0" anchor="ctr"/>
          <a:lstStyle/>
          <a:p>
            <a:pPr marL="0" indent="0">
              <a:buNone/>
            </a:pPr>
            <a:r>
              <a:rPr lang="en-US" sz="1050" dirty="0">
                <a:solidFill>
                  <a:srgbClr val="334155"/>
                </a:solidFill>
              </a:rPr>
              <a:t>E-commerce retailer serves thousands of customers — but treats them all the same. This project uses data science to group customers by behaviour so the business can take targeted action for each group.</a:t>
            </a:r>
            <a:endParaRPr lang="en-US" sz="1050" dirty="0"/>
          </a:p>
        </p:txBody>
      </p:sp>
      <p:sp>
        <p:nvSpPr>
          <p:cNvPr id="25" name="Text 23"/>
          <p:cNvSpPr/>
          <p:nvPr/>
        </p:nvSpPr>
        <p:spPr>
          <a:xfrm>
            <a:off x="365760" y="2011680"/>
            <a:ext cx="5074920" cy="274320"/>
          </a:xfrm>
          <a:prstGeom prst="rect">
            <a:avLst/>
          </a:prstGeom>
          <a:noFill/>
          <a:ln/>
        </p:spPr>
        <p:txBody>
          <a:bodyPr wrap="square" lIns="0" tIns="0" rIns="0" bIns="0" rtlCol="0" anchor="ctr"/>
          <a:lstStyle/>
          <a:p>
            <a:pPr marL="0" indent="0">
              <a:buNone/>
            </a:pPr>
            <a:r>
              <a:rPr lang="en-US" sz="1200" b="1" dirty="0">
                <a:solidFill>
                  <a:srgbClr val="1B2763"/>
                </a:solidFill>
              </a:rPr>
              <a:t>The Problem</a:t>
            </a:r>
            <a:endParaRPr lang="en-US" sz="1200" dirty="0"/>
          </a:p>
        </p:txBody>
      </p:sp>
      <p:sp>
        <p:nvSpPr>
          <p:cNvPr id="26" name="Shape 24"/>
          <p:cNvSpPr/>
          <p:nvPr/>
        </p:nvSpPr>
        <p:spPr>
          <a:xfrm>
            <a:off x="384048" y="2468880"/>
            <a:ext cx="100584" cy="100584"/>
          </a:xfrm>
          <a:prstGeom prst="ellipse">
            <a:avLst/>
          </a:prstGeom>
          <a:solidFill>
            <a:srgbClr val="4A90D9"/>
          </a:solidFill>
          <a:ln w="12700">
            <a:solidFill>
              <a:srgbClr val="4A90D9"/>
            </a:solidFill>
            <a:prstDash val="solid"/>
          </a:ln>
        </p:spPr>
      </p:sp>
      <p:sp>
        <p:nvSpPr>
          <p:cNvPr id="27" name="Text 25"/>
          <p:cNvSpPr/>
          <p:nvPr/>
        </p:nvSpPr>
        <p:spPr>
          <a:xfrm>
            <a:off x="566928" y="2359152"/>
            <a:ext cx="4864608" cy="512064"/>
          </a:xfrm>
          <a:prstGeom prst="rect">
            <a:avLst/>
          </a:prstGeom>
          <a:noFill/>
          <a:ln/>
        </p:spPr>
        <p:txBody>
          <a:bodyPr wrap="square" lIns="0" tIns="0" rIns="0" bIns="0" rtlCol="0" anchor="ctr"/>
          <a:lstStyle/>
          <a:p>
            <a:pPr marL="0" indent="0">
              <a:buNone/>
            </a:pPr>
            <a:r>
              <a:rPr lang="en-US" sz="1050" dirty="0">
                <a:solidFill>
                  <a:srgbClr val="334155"/>
                </a:solidFill>
              </a:rPr>
              <a:t>High-value buyers receive no special attention</a:t>
            </a:r>
            <a:endParaRPr lang="en-US" sz="1050" dirty="0"/>
          </a:p>
        </p:txBody>
      </p:sp>
      <p:sp>
        <p:nvSpPr>
          <p:cNvPr id="28" name="Shape 26"/>
          <p:cNvSpPr/>
          <p:nvPr/>
        </p:nvSpPr>
        <p:spPr>
          <a:xfrm>
            <a:off x="384048" y="3035808"/>
            <a:ext cx="100584" cy="100584"/>
          </a:xfrm>
          <a:prstGeom prst="ellipse">
            <a:avLst/>
          </a:prstGeom>
          <a:solidFill>
            <a:srgbClr val="4A90D9"/>
          </a:solidFill>
          <a:ln w="12700">
            <a:solidFill>
              <a:srgbClr val="4A90D9"/>
            </a:solidFill>
            <a:prstDash val="solid"/>
          </a:ln>
        </p:spPr>
      </p:sp>
      <p:sp>
        <p:nvSpPr>
          <p:cNvPr id="29" name="Text 27"/>
          <p:cNvSpPr/>
          <p:nvPr/>
        </p:nvSpPr>
        <p:spPr>
          <a:xfrm>
            <a:off x="566928" y="2926080"/>
            <a:ext cx="4864608" cy="512064"/>
          </a:xfrm>
          <a:prstGeom prst="rect">
            <a:avLst/>
          </a:prstGeom>
          <a:noFill/>
          <a:ln/>
        </p:spPr>
        <p:txBody>
          <a:bodyPr wrap="square" lIns="0" tIns="0" rIns="0" bIns="0" rtlCol="0" anchor="ctr"/>
          <a:lstStyle/>
          <a:p>
            <a:pPr marL="0" indent="0">
              <a:buNone/>
            </a:pPr>
            <a:r>
              <a:rPr lang="en-US" sz="1050" dirty="0">
                <a:solidFill>
                  <a:srgbClr val="334155"/>
                </a:solidFill>
              </a:rPr>
              <a:t>At-risk customers drift away unnoticed</a:t>
            </a:r>
            <a:endParaRPr lang="en-US" sz="1050" dirty="0"/>
          </a:p>
        </p:txBody>
      </p:sp>
      <p:sp>
        <p:nvSpPr>
          <p:cNvPr id="30" name="Shape 28"/>
          <p:cNvSpPr/>
          <p:nvPr/>
        </p:nvSpPr>
        <p:spPr>
          <a:xfrm>
            <a:off x="384048" y="3602736"/>
            <a:ext cx="100584" cy="100584"/>
          </a:xfrm>
          <a:prstGeom prst="ellipse">
            <a:avLst/>
          </a:prstGeom>
          <a:solidFill>
            <a:srgbClr val="4A90D9"/>
          </a:solidFill>
          <a:ln w="12700">
            <a:solidFill>
              <a:srgbClr val="4A90D9"/>
            </a:solidFill>
            <a:prstDash val="solid"/>
          </a:ln>
        </p:spPr>
      </p:sp>
      <p:sp>
        <p:nvSpPr>
          <p:cNvPr id="31" name="Text 29"/>
          <p:cNvSpPr/>
          <p:nvPr/>
        </p:nvSpPr>
        <p:spPr>
          <a:xfrm>
            <a:off x="566928" y="3493008"/>
            <a:ext cx="4864608" cy="512064"/>
          </a:xfrm>
          <a:prstGeom prst="rect">
            <a:avLst/>
          </a:prstGeom>
          <a:noFill/>
          <a:ln/>
        </p:spPr>
        <p:txBody>
          <a:bodyPr wrap="square" lIns="0" tIns="0" rIns="0" bIns="0" rtlCol="0" anchor="ctr"/>
          <a:lstStyle/>
          <a:p>
            <a:pPr marL="0" indent="0">
              <a:buNone/>
            </a:pPr>
            <a:r>
              <a:rPr lang="en-US" sz="1050" dirty="0">
                <a:solidFill>
                  <a:srgbClr val="334155"/>
                </a:solidFill>
              </a:rPr>
              <a:t>Marketing budget is wasted on wrong audiences</a:t>
            </a:r>
            <a:endParaRPr lang="en-US" sz="1050" dirty="0"/>
          </a:p>
        </p:txBody>
      </p:sp>
      <p:sp>
        <p:nvSpPr>
          <p:cNvPr id="32" name="Shape 30"/>
          <p:cNvSpPr/>
          <p:nvPr/>
        </p:nvSpPr>
        <p:spPr>
          <a:xfrm>
            <a:off x="384048" y="4169664"/>
            <a:ext cx="100584" cy="100584"/>
          </a:xfrm>
          <a:prstGeom prst="ellipse">
            <a:avLst/>
          </a:prstGeom>
          <a:solidFill>
            <a:srgbClr val="4A90D9"/>
          </a:solidFill>
          <a:ln w="12700">
            <a:solidFill>
              <a:srgbClr val="4A90D9"/>
            </a:solidFill>
            <a:prstDash val="solid"/>
          </a:ln>
        </p:spPr>
      </p:sp>
      <p:sp>
        <p:nvSpPr>
          <p:cNvPr id="33" name="Text 31"/>
          <p:cNvSpPr/>
          <p:nvPr/>
        </p:nvSpPr>
        <p:spPr>
          <a:xfrm>
            <a:off x="566928" y="4059936"/>
            <a:ext cx="4864608" cy="512064"/>
          </a:xfrm>
          <a:prstGeom prst="rect">
            <a:avLst/>
          </a:prstGeom>
          <a:noFill/>
          <a:ln/>
        </p:spPr>
        <p:txBody>
          <a:bodyPr wrap="square" lIns="0" tIns="0" rIns="0" bIns="0" rtlCol="0" anchor="ctr"/>
          <a:lstStyle/>
          <a:p>
            <a:pPr marL="0" indent="0">
              <a:buNone/>
            </a:pPr>
            <a:r>
              <a:rPr lang="en-US" sz="1050" dirty="0">
                <a:solidFill>
                  <a:srgbClr val="334155"/>
                </a:solidFill>
              </a:rPr>
              <a:t>No system to predict a new customer's value</a:t>
            </a:r>
            <a:endParaRPr lang="en-US" sz="1050" dirty="0"/>
          </a:p>
        </p:txBody>
      </p:sp>
      <p:sp>
        <p:nvSpPr>
          <p:cNvPr id="34" name="Text 32"/>
          <p:cNvSpPr/>
          <p:nvPr/>
        </p:nvSpPr>
        <p:spPr>
          <a:xfrm>
            <a:off x="365760" y="4608576"/>
            <a:ext cx="5074920" cy="182880"/>
          </a:xfrm>
          <a:prstGeom prst="rect">
            <a:avLst/>
          </a:prstGeom>
          <a:noFill/>
          <a:ln/>
        </p:spPr>
        <p:txBody>
          <a:bodyPr wrap="square" lIns="0" tIns="0" rIns="0" bIns="0" rtlCol="0" anchor="ctr"/>
          <a:lstStyle/>
          <a:p>
            <a:pPr marL="0" indent="0">
              <a:buNone/>
            </a:pPr>
            <a:r>
              <a:rPr lang="en-US" sz="900" i="1" dirty="0">
                <a:solidFill>
                  <a:srgbClr val="94A3B8"/>
                </a:solidFill>
              </a:rPr>
              <a:t>Solution: RFM + K-Means Clustering + Random Forest Classifier</a:t>
            </a:r>
            <a:endParaRPr lang="en-US" sz="900" dirty="0"/>
          </a:p>
        </p:txBody>
      </p:sp>
      <p:sp>
        <p:nvSpPr>
          <p:cNvPr id="35" name="Shape 9">
            <a:extLst>
              <a:ext uri="{FF2B5EF4-FFF2-40B4-BE49-F238E27FC236}">
                <a16:creationId xmlns:a16="http://schemas.microsoft.com/office/drawing/2014/main" id="{E6EF3B39-9506-E761-9EAF-AB3D8A80A3F0}"/>
              </a:ext>
            </a:extLst>
          </p:cNvPr>
          <p:cNvSpPr/>
          <p:nvPr/>
        </p:nvSpPr>
        <p:spPr>
          <a:xfrm>
            <a:off x="5760720" y="663774"/>
            <a:ext cx="3246120" cy="652652"/>
          </a:xfrm>
          <a:prstGeom prst="rect">
            <a:avLst/>
          </a:prstGeom>
          <a:solidFill>
            <a:schemeClr val="accent5">
              <a:lumMod val="75000"/>
            </a:schemeClr>
          </a:solidFill>
          <a:ln w="12700">
            <a:solidFill>
              <a:srgbClr val="2E5FA3"/>
            </a:solidFill>
            <a:prstDash val="solid"/>
          </a:ln>
          <a:effectLst>
            <a:outerShdw blurRad="63500" dist="25400" dir="8100000" algn="bl" rotWithShape="0">
              <a:srgbClr val="000000">
                <a:alpha val="12000"/>
              </a:srgbClr>
            </a:outerShdw>
          </a:effectLst>
        </p:spPr>
      </p:sp>
      <p:sp>
        <p:nvSpPr>
          <p:cNvPr id="36" name="Text 10">
            <a:extLst>
              <a:ext uri="{FF2B5EF4-FFF2-40B4-BE49-F238E27FC236}">
                <a16:creationId xmlns:a16="http://schemas.microsoft.com/office/drawing/2014/main" id="{B7830714-627D-2B66-49F5-082DB4530D3B}"/>
              </a:ext>
            </a:extLst>
          </p:cNvPr>
          <p:cNvSpPr/>
          <p:nvPr/>
        </p:nvSpPr>
        <p:spPr>
          <a:xfrm>
            <a:off x="5760720" y="665200"/>
            <a:ext cx="3246120" cy="329761"/>
          </a:xfrm>
          <a:prstGeom prst="rect">
            <a:avLst/>
          </a:prstGeom>
          <a:noFill/>
          <a:ln/>
        </p:spPr>
        <p:txBody>
          <a:bodyPr wrap="square" lIns="0" tIns="0" rIns="0" bIns="0" rtlCol="0" anchor="ctr"/>
          <a:lstStyle/>
          <a:p>
            <a:pPr algn="ctr"/>
            <a:r>
              <a:rPr lang="en-IN" sz="2000" b="1" dirty="0">
                <a:solidFill>
                  <a:schemeClr val="bg1"/>
                </a:solidFill>
              </a:rPr>
              <a:t>5,41,909</a:t>
            </a:r>
            <a:endParaRPr lang="en-US" sz="2000" b="1" dirty="0">
              <a:solidFill>
                <a:schemeClr val="bg1"/>
              </a:solidFill>
            </a:endParaRPr>
          </a:p>
        </p:txBody>
      </p:sp>
      <p:sp>
        <p:nvSpPr>
          <p:cNvPr id="37" name="Text 11">
            <a:extLst>
              <a:ext uri="{FF2B5EF4-FFF2-40B4-BE49-F238E27FC236}">
                <a16:creationId xmlns:a16="http://schemas.microsoft.com/office/drawing/2014/main" id="{07C4BFF6-DDBD-918C-2B5E-DA06731FB55C}"/>
              </a:ext>
            </a:extLst>
          </p:cNvPr>
          <p:cNvSpPr/>
          <p:nvPr/>
        </p:nvSpPr>
        <p:spPr>
          <a:xfrm>
            <a:off x="5760720" y="1101934"/>
            <a:ext cx="3246120" cy="206101"/>
          </a:xfrm>
          <a:prstGeom prst="rect">
            <a:avLst/>
          </a:prstGeom>
          <a:noFill/>
          <a:ln/>
        </p:spPr>
        <p:txBody>
          <a:bodyPr wrap="square" lIns="0" tIns="0" rIns="0" bIns="0" rtlCol="0" anchor="ctr"/>
          <a:lstStyle/>
          <a:p>
            <a:pPr marL="0" indent="0" algn="ctr">
              <a:buNone/>
            </a:pPr>
            <a:r>
              <a:rPr lang="en-US" sz="900" dirty="0">
                <a:solidFill>
                  <a:srgbClr val="D4E8FF"/>
                </a:solidFill>
              </a:rPr>
              <a:t>Transactions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Dataset Overview</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Text 7"/>
          <p:cNvSpPr/>
          <p:nvPr/>
        </p:nvSpPr>
        <p:spPr>
          <a:xfrm>
            <a:off x="365760" y="749808"/>
            <a:ext cx="5166360" cy="256032"/>
          </a:xfrm>
          <a:prstGeom prst="rect">
            <a:avLst/>
          </a:prstGeom>
          <a:noFill/>
          <a:ln/>
        </p:spPr>
        <p:txBody>
          <a:bodyPr wrap="square" lIns="0" tIns="0" rIns="0" bIns="0" rtlCol="0" anchor="ctr"/>
          <a:lstStyle/>
          <a:p>
            <a:pPr marL="0" indent="0">
              <a:buNone/>
            </a:pPr>
            <a:r>
              <a:rPr lang="en-US" sz="1100" b="1" dirty="0">
                <a:solidFill>
                  <a:srgbClr val="1B2763"/>
                </a:solidFill>
              </a:rPr>
              <a:t>Raw Features (8 columns)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3845492708"/>
              </p:ext>
            </p:extLst>
          </p:nvPr>
        </p:nvGraphicFramePr>
        <p:xfrm>
          <a:off x="365760" y="1032276"/>
          <a:ext cx="5166360" cy="3530583"/>
        </p:xfrm>
        <a:graphic>
          <a:graphicData uri="http://schemas.openxmlformats.org/drawingml/2006/table">
            <a:tbl>
              <a:tblPr/>
              <a:tblGrid>
                <a:gridCol w="1234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92287">
                <a:tc>
                  <a:txBody>
                    <a:bodyPr/>
                    <a:lstStyle/>
                    <a:p>
                      <a:pPr marL="0" indent="0">
                        <a:buNone/>
                      </a:pPr>
                      <a:r>
                        <a:rPr lang="en-US" sz="900" b="1" dirty="0">
                          <a:solidFill>
                            <a:srgbClr val="FFFFFF"/>
                          </a:solidFill>
                        </a:rPr>
                        <a:t>Feature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900" b="1" dirty="0">
                          <a:solidFill>
                            <a:srgbClr val="FFFFFF"/>
                          </a:solidFill>
                        </a:rPr>
                        <a:t>Description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extLst>
                  <a:ext uri="{0D108BD9-81ED-4DB2-BD59-A6C34878D82A}">
                    <a16:rowId xmlns:a16="http://schemas.microsoft.com/office/drawing/2014/main" val="10000"/>
                  </a:ext>
                </a:extLst>
              </a:tr>
              <a:tr h="392287">
                <a:tc>
                  <a:txBody>
                    <a:bodyPr/>
                    <a:lstStyle/>
                    <a:p>
                      <a:pPr marL="0" indent="0">
                        <a:buNone/>
                      </a:pPr>
                      <a:r>
                        <a:rPr lang="en-US" sz="900" b="1" dirty="0">
                          <a:solidFill>
                            <a:srgbClr val="1B2763"/>
                          </a:solidFill>
                        </a:rPr>
                        <a:t>InvoiceNo</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900" dirty="0">
                          <a:solidFill>
                            <a:srgbClr val="334155"/>
                          </a:solidFill>
                        </a:rPr>
                        <a:t>Transaction ID — prefix 'C' = cancellation/return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92287">
                <a:tc>
                  <a:txBody>
                    <a:bodyPr/>
                    <a:lstStyle/>
                    <a:p>
                      <a:pPr marL="0" indent="0">
                        <a:buNone/>
                      </a:pPr>
                      <a:r>
                        <a:rPr lang="en-US" sz="900" b="1" dirty="0">
                          <a:solidFill>
                            <a:srgbClr val="1B2763"/>
                          </a:solidFill>
                        </a:rPr>
                        <a:t>StockCode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Unique product code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2287">
                <a:tc>
                  <a:txBody>
                    <a:bodyPr/>
                    <a:lstStyle/>
                    <a:p>
                      <a:pPr marL="0" indent="0">
                        <a:buNone/>
                      </a:pPr>
                      <a:r>
                        <a:rPr lang="en-US" sz="900" b="1" dirty="0">
                          <a:solidFill>
                            <a:srgbClr val="1B2763"/>
                          </a:solidFill>
                        </a:rPr>
                        <a:t>Description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900" dirty="0">
                          <a:solidFill>
                            <a:srgbClr val="334155"/>
                          </a:solidFill>
                        </a:rPr>
                        <a:t>Product name (some nulls — dropped)</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392287">
                <a:tc>
                  <a:txBody>
                    <a:bodyPr/>
                    <a:lstStyle/>
                    <a:p>
                      <a:pPr marL="0" indent="0">
                        <a:buNone/>
                      </a:pPr>
                      <a:r>
                        <a:rPr lang="en-US" sz="900" b="1" dirty="0">
                          <a:solidFill>
                            <a:srgbClr val="1B2763"/>
                          </a:solidFill>
                        </a:rPr>
                        <a:t>Quantity</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Units purchased — negative = returned items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2287">
                <a:tc>
                  <a:txBody>
                    <a:bodyPr/>
                    <a:lstStyle/>
                    <a:p>
                      <a:pPr marL="0" indent="0">
                        <a:buNone/>
                      </a:pPr>
                      <a:r>
                        <a:rPr lang="en-US" sz="900" b="1" dirty="0">
                          <a:solidFill>
                            <a:srgbClr val="1B2763"/>
                          </a:solidFill>
                        </a:rPr>
                        <a:t>InvoiceDate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900" dirty="0">
                          <a:solidFill>
                            <a:srgbClr val="334155"/>
                          </a:solidFill>
                        </a:rPr>
                        <a:t>Date and time of transaction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392287">
                <a:tc>
                  <a:txBody>
                    <a:bodyPr/>
                    <a:lstStyle/>
                    <a:p>
                      <a:pPr marL="0" indent="0">
                        <a:buNone/>
                      </a:pPr>
                      <a:r>
                        <a:rPr lang="en-US" sz="900" b="1" dirty="0">
                          <a:solidFill>
                            <a:srgbClr val="1B2763"/>
                          </a:solidFill>
                        </a:rPr>
                        <a:t>UnitPrice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Price per unit (£)</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2287">
                <a:tc>
                  <a:txBody>
                    <a:bodyPr/>
                    <a:lstStyle/>
                    <a:p>
                      <a:pPr marL="0" indent="0">
                        <a:buNone/>
                      </a:pPr>
                      <a:r>
                        <a:rPr lang="en-US" sz="900" b="1" dirty="0">
                          <a:solidFill>
                            <a:srgbClr val="1B2763"/>
                          </a:solidFill>
                        </a:rPr>
                        <a:t>CustomerID</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900" dirty="0">
                          <a:solidFill>
                            <a:srgbClr val="334155"/>
                          </a:solidFill>
                        </a:rPr>
                        <a:t>Unique customer ID — nulls = guest checkouts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7"/>
                  </a:ext>
                </a:extLst>
              </a:tr>
              <a:tr h="392287">
                <a:tc>
                  <a:txBody>
                    <a:bodyPr/>
                    <a:lstStyle/>
                    <a:p>
                      <a:pPr marL="0" indent="0">
                        <a:buNone/>
                      </a:pPr>
                      <a:r>
                        <a:rPr lang="en-US" sz="900" b="1" dirty="0">
                          <a:solidFill>
                            <a:srgbClr val="1B2763"/>
                          </a:solidFill>
                        </a:rPr>
                        <a:t>Country</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Customer's country of residence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1" name="Text 8"/>
          <p:cNvSpPr/>
          <p:nvPr/>
        </p:nvSpPr>
        <p:spPr>
          <a:xfrm>
            <a:off x="5760720" y="426986"/>
            <a:ext cx="3017520" cy="256032"/>
          </a:xfrm>
          <a:prstGeom prst="rect">
            <a:avLst/>
          </a:prstGeom>
          <a:noFill/>
          <a:ln/>
        </p:spPr>
        <p:txBody>
          <a:bodyPr wrap="square" lIns="0" tIns="0" rIns="0" bIns="0" rtlCol="0" anchor="ctr"/>
          <a:lstStyle/>
          <a:p>
            <a:pPr marL="0" indent="0">
              <a:buNone/>
            </a:pPr>
            <a:r>
              <a:rPr lang="en-US" sz="1100" b="1" dirty="0">
                <a:solidFill>
                  <a:srgbClr val="1B2763"/>
                </a:solidFill>
              </a:rPr>
              <a:t>Key Numbers</a:t>
            </a:r>
            <a:endParaRPr lang="en-US" sz="1100" dirty="0"/>
          </a:p>
        </p:txBody>
      </p:sp>
      <p:sp>
        <p:nvSpPr>
          <p:cNvPr id="12" name="Shape 9"/>
          <p:cNvSpPr/>
          <p:nvPr/>
        </p:nvSpPr>
        <p:spPr>
          <a:xfrm>
            <a:off x="5760720" y="1735384"/>
            <a:ext cx="3017520" cy="665018"/>
          </a:xfrm>
          <a:prstGeom prst="rect">
            <a:avLst/>
          </a:prstGeom>
          <a:solidFill>
            <a:srgbClr val="2E5FA3"/>
          </a:solidFill>
          <a:ln w="12700">
            <a:solidFill>
              <a:srgbClr val="2E5FA3"/>
            </a:solidFill>
            <a:prstDash val="solid"/>
          </a:ln>
          <a:effectLst>
            <a:outerShdw blurRad="63500" dist="25400" dir="8100000" algn="bl" rotWithShape="0">
              <a:srgbClr val="000000">
                <a:alpha val="12000"/>
              </a:srgbClr>
            </a:outerShdw>
          </a:effectLst>
        </p:spPr>
      </p:sp>
      <p:sp>
        <p:nvSpPr>
          <p:cNvPr id="13" name="Text 10"/>
          <p:cNvSpPr/>
          <p:nvPr/>
        </p:nvSpPr>
        <p:spPr>
          <a:xfrm>
            <a:off x="5760720" y="1747778"/>
            <a:ext cx="3017520" cy="347623"/>
          </a:xfrm>
          <a:prstGeom prst="rect">
            <a:avLst/>
          </a:prstGeom>
          <a:noFill/>
          <a:ln/>
        </p:spPr>
        <p:txBody>
          <a:bodyPr wrap="square" lIns="0" tIns="0" rIns="0" bIns="0" rtlCol="0" anchor="ctr"/>
          <a:lstStyle/>
          <a:p>
            <a:pPr marL="0" indent="0" algn="ctr">
              <a:buNone/>
            </a:pPr>
            <a:r>
              <a:rPr lang="en-US" sz="2200" b="1" dirty="0">
                <a:solidFill>
                  <a:srgbClr val="FFFFFF"/>
                </a:solidFill>
              </a:rPr>
              <a:t>4,335</a:t>
            </a:r>
            <a:endParaRPr lang="en-US" sz="2200" dirty="0"/>
          </a:p>
        </p:txBody>
      </p:sp>
      <p:sp>
        <p:nvSpPr>
          <p:cNvPr id="14" name="Text 11"/>
          <p:cNvSpPr/>
          <p:nvPr/>
        </p:nvSpPr>
        <p:spPr>
          <a:xfrm>
            <a:off x="5760720" y="2172407"/>
            <a:ext cx="3017520" cy="211596"/>
          </a:xfrm>
          <a:prstGeom prst="rect">
            <a:avLst/>
          </a:prstGeom>
          <a:noFill/>
          <a:ln/>
        </p:spPr>
        <p:txBody>
          <a:bodyPr wrap="square" lIns="0" tIns="0" rIns="0" bIns="0" rtlCol="0" anchor="ctr"/>
          <a:lstStyle/>
          <a:p>
            <a:pPr marL="0" indent="0" algn="ctr">
              <a:buNone/>
            </a:pPr>
            <a:r>
              <a:rPr lang="en-US" sz="900" dirty="0">
                <a:solidFill>
                  <a:srgbClr val="D4E8FF"/>
                </a:solidFill>
              </a:rPr>
              <a:t>Unique Customers</a:t>
            </a:r>
            <a:endParaRPr lang="en-US" sz="900" dirty="0"/>
          </a:p>
        </p:txBody>
      </p:sp>
      <p:sp>
        <p:nvSpPr>
          <p:cNvPr id="15" name="Shape 12"/>
          <p:cNvSpPr/>
          <p:nvPr/>
        </p:nvSpPr>
        <p:spPr>
          <a:xfrm>
            <a:off x="5760720" y="2453353"/>
            <a:ext cx="3017520" cy="665018"/>
          </a:xfrm>
          <a:prstGeom prst="rect">
            <a:avLst/>
          </a:prstGeom>
          <a:solidFill>
            <a:srgbClr val="1A5276"/>
          </a:solidFill>
          <a:ln w="12700">
            <a:solidFill>
              <a:srgbClr val="1A5276"/>
            </a:solidFill>
            <a:prstDash val="solid"/>
          </a:ln>
          <a:effectLst>
            <a:outerShdw blurRad="63500" dist="25400" dir="8100000" algn="bl" rotWithShape="0">
              <a:srgbClr val="000000">
                <a:alpha val="12000"/>
              </a:srgbClr>
            </a:outerShdw>
          </a:effectLst>
        </p:spPr>
      </p:sp>
      <p:sp>
        <p:nvSpPr>
          <p:cNvPr id="16" name="Text 13"/>
          <p:cNvSpPr/>
          <p:nvPr/>
        </p:nvSpPr>
        <p:spPr>
          <a:xfrm>
            <a:off x="5760720" y="2465747"/>
            <a:ext cx="3017520" cy="347623"/>
          </a:xfrm>
          <a:prstGeom prst="rect">
            <a:avLst/>
          </a:prstGeom>
          <a:noFill/>
          <a:ln/>
        </p:spPr>
        <p:txBody>
          <a:bodyPr wrap="square" lIns="0" tIns="0" rIns="0" bIns="0" rtlCol="0" anchor="ctr"/>
          <a:lstStyle/>
          <a:p>
            <a:pPr marL="0" indent="0" algn="ctr">
              <a:buNone/>
            </a:pPr>
            <a:r>
              <a:rPr lang="en-US" sz="2200" b="1" dirty="0">
                <a:solidFill>
                  <a:srgbClr val="FFFFFF"/>
                </a:solidFill>
              </a:rPr>
              <a:t>37</a:t>
            </a:r>
            <a:endParaRPr lang="en-US" sz="2200" dirty="0"/>
          </a:p>
        </p:txBody>
      </p:sp>
      <p:sp>
        <p:nvSpPr>
          <p:cNvPr id="17" name="Text 14"/>
          <p:cNvSpPr/>
          <p:nvPr/>
        </p:nvSpPr>
        <p:spPr>
          <a:xfrm>
            <a:off x="5760720" y="2890376"/>
            <a:ext cx="3017520" cy="211596"/>
          </a:xfrm>
          <a:prstGeom prst="rect">
            <a:avLst/>
          </a:prstGeom>
          <a:noFill/>
          <a:ln/>
        </p:spPr>
        <p:txBody>
          <a:bodyPr wrap="square" lIns="0" tIns="0" rIns="0" bIns="0" rtlCol="0" anchor="ctr"/>
          <a:lstStyle/>
          <a:p>
            <a:pPr marL="0" indent="0" algn="ctr">
              <a:buNone/>
            </a:pPr>
            <a:r>
              <a:rPr lang="en-US" sz="900" dirty="0">
                <a:solidFill>
                  <a:srgbClr val="D4E8FF"/>
                </a:solidFill>
              </a:rPr>
              <a:t>Countries Covered</a:t>
            </a:r>
            <a:endParaRPr lang="en-US" sz="900" dirty="0"/>
          </a:p>
        </p:txBody>
      </p:sp>
      <p:sp>
        <p:nvSpPr>
          <p:cNvPr id="18" name="Shape 15"/>
          <p:cNvSpPr/>
          <p:nvPr/>
        </p:nvSpPr>
        <p:spPr>
          <a:xfrm>
            <a:off x="5760720" y="3171329"/>
            <a:ext cx="3017520" cy="665018"/>
          </a:xfrm>
          <a:prstGeom prst="rect">
            <a:avLst/>
          </a:prstGeom>
          <a:solidFill>
            <a:srgbClr val="6C3483"/>
          </a:solidFill>
          <a:ln w="12700">
            <a:solidFill>
              <a:srgbClr val="6C3483"/>
            </a:solidFill>
            <a:prstDash val="solid"/>
          </a:ln>
          <a:effectLst>
            <a:outerShdw blurRad="63500" dist="25400" dir="8100000" algn="bl" rotWithShape="0">
              <a:srgbClr val="000000">
                <a:alpha val="12000"/>
              </a:srgbClr>
            </a:outerShdw>
          </a:effectLst>
        </p:spPr>
      </p:sp>
      <p:sp>
        <p:nvSpPr>
          <p:cNvPr id="19" name="Text 16"/>
          <p:cNvSpPr/>
          <p:nvPr/>
        </p:nvSpPr>
        <p:spPr>
          <a:xfrm>
            <a:off x="5760720" y="3183723"/>
            <a:ext cx="3017520" cy="347623"/>
          </a:xfrm>
          <a:prstGeom prst="rect">
            <a:avLst/>
          </a:prstGeom>
          <a:noFill/>
          <a:ln/>
        </p:spPr>
        <p:txBody>
          <a:bodyPr wrap="square" lIns="0" tIns="0" rIns="0" bIns="0" rtlCol="0" anchor="ctr"/>
          <a:lstStyle/>
          <a:p>
            <a:pPr marL="0" indent="0" algn="ctr">
              <a:buNone/>
            </a:pPr>
            <a:r>
              <a:rPr lang="en-US" sz="2200" b="1" dirty="0">
                <a:solidFill>
                  <a:srgbClr val="FFFFFF"/>
                </a:solidFill>
              </a:rPr>
              <a:t>£18,714</a:t>
            </a:r>
            <a:endParaRPr lang="en-US" sz="2200" dirty="0"/>
          </a:p>
        </p:txBody>
      </p:sp>
      <p:sp>
        <p:nvSpPr>
          <p:cNvPr id="20" name="Text 17"/>
          <p:cNvSpPr/>
          <p:nvPr/>
        </p:nvSpPr>
        <p:spPr>
          <a:xfrm>
            <a:off x="5760720" y="3608352"/>
            <a:ext cx="3017520" cy="211596"/>
          </a:xfrm>
          <a:prstGeom prst="rect">
            <a:avLst/>
          </a:prstGeom>
          <a:noFill/>
          <a:ln/>
        </p:spPr>
        <p:txBody>
          <a:bodyPr wrap="square" lIns="0" tIns="0" rIns="0" bIns="0" rtlCol="0" anchor="ctr"/>
          <a:lstStyle/>
          <a:p>
            <a:pPr marL="0" indent="0" algn="ctr">
              <a:buNone/>
            </a:pPr>
            <a:r>
              <a:rPr lang="en-US" sz="900" dirty="0">
                <a:solidFill>
                  <a:srgbClr val="D4E8FF"/>
                </a:solidFill>
              </a:rPr>
              <a:t>VIP Monetary Threshold</a:t>
            </a:r>
            <a:endParaRPr lang="en-US" sz="900" dirty="0"/>
          </a:p>
        </p:txBody>
      </p:sp>
      <p:sp>
        <p:nvSpPr>
          <p:cNvPr id="21" name="Shape 18"/>
          <p:cNvSpPr/>
          <p:nvPr/>
        </p:nvSpPr>
        <p:spPr>
          <a:xfrm>
            <a:off x="5760720" y="3896081"/>
            <a:ext cx="3017520" cy="665018"/>
          </a:xfrm>
          <a:prstGeom prst="rect">
            <a:avLst/>
          </a:prstGeom>
          <a:solidFill>
            <a:srgbClr val="145A32"/>
          </a:solidFill>
          <a:ln w="12700">
            <a:solidFill>
              <a:srgbClr val="145A32"/>
            </a:solidFill>
            <a:prstDash val="solid"/>
          </a:ln>
          <a:effectLst>
            <a:outerShdw blurRad="63500" dist="25400" dir="8100000" algn="bl" rotWithShape="0">
              <a:srgbClr val="000000">
                <a:alpha val="12000"/>
              </a:srgbClr>
            </a:outerShdw>
          </a:effectLst>
        </p:spPr>
      </p:sp>
      <p:sp>
        <p:nvSpPr>
          <p:cNvPr id="22" name="Text 19"/>
          <p:cNvSpPr/>
          <p:nvPr/>
        </p:nvSpPr>
        <p:spPr>
          <a:xfrm>
            <a:off x="5760720" y="3908475"/>
            <a:ext cx="3017520" cy="347623"/>
          </a:xfrm>
          <a:prstGeom prst="rect">
            <a:avLst/>
          </a:prstGeom>
          <a:noFill/>
          <a:ln/>
        </p:spPr>
        <p:txBody>
          <a:bodyPr wrap="square" lIns="0" tIns="0" rIns="0" bIns="0" rtlCol="0" anchor="ctr"/>
          <a:lstStyle/>
          <a:p>
            <a:pPr marL="0" indent="0" algn="ctr">
              <a:buNone/>
            </a:pPr>
            <a:r>
              <a:rPr lang="en-US" sz="2200" b="1" dirty="0">
                <a:solidFill>
                  <a:srgbClr val="FFFFFF"/>
                </a:solidFill>
              </a:rPr>
              <a:t>44</a:t>
            </a:r>
            <a:endParaRPr lang="en-US" sz="2200" dirty="0"/>
          </a:p>
        </p:txBody>
      </p:sp>
      <p:sp>
        <p:nvSpPr>
          <p:cNvPr id="23" name="Text 20"/>
          <p:cNvSpPr/>
          <p:nvPr/>
        </p:nvSpPr>
        <p:spPr>
          <a:xfrm>
            <a:off x="5760720" y="4333104"/>
            <a:ext cx="3017520" cy="211596"/>
          </a:xfrm>
          <a:prstGeom prst="rect">
            <a:avLst/>
          </a:prstGeom>
          <a:noFill/>
          <a:ln/>
        </p:spPr>
        <p:txBody>
          <a:bodyPr wrap="square" lIns="0" tIns="0" rIns="0" bIns="0" rtlCol="0" anchor="ctr"/>
          <a:lstStyle/>
          <a:p>
            <a:pPr marL="0" indent="0" algn="ctr">
              <a:buNone/>
            </a:pPr>
            <a:r>
              <a:rPr lang="en-US" sz="900" dirty="0">
                <a:solidFill>
                  <a:srgbClr val="D4E8FF"/>
                </a:solidFill>
              </a:rPr>
              <a:t>VIP Customers Isolated</a:t>
            </a:r>
            <a:endParaRPr lang="en-US" sz="900" dirty="0"/>
          </a:p>
        </p:txBody>
      </p:sp>
      <p:sp>
        <p:nvSpPr>
          <p:cNvPr id="24" name="Shape 21"/>
          <p:cNvSpPr/>
          <p:nvPr/>
        </p:nvSpPr>
        <p:spPr>
          <a:xfrm>
            <a:off x="365760" y="4626864"/>
            <a:ext cx="8412480" cy="201168"/>
          </a:xfrm>
          <a:prstGeom prst="rect">
            <a:avLst/>
          </a:prstGeom>
          <a:solidFill>
            <a:srgbClr val="F5F7FA"/>
          </a:solidFill>
          <a:ln w="6350">
            <a:solidFill>
              <a:srgbClr val="E2E8F0"/>
            </a:solidFill>
            <a:prstDash val="solid"/>
          </a:ln>
        </p:spPr>
      </p:sp>
      <p:sp>
        <p:nvSpPr>
          <p:cNvPr id="25" name="Shape 22"/>
          <p:cNvSpPr/>
          <p:nvPr/>
        </p:nvSpPr>
        <p:spPr>
          <a:xfrm>
            <a:off x="365760" y="4626864"/>
            <a:ext cx="50292" cy="201168"/>
          </a:xfrm>
          <a:prstGeom prst="rect">
            <a:avLst/>
          </a:prstGeom>
          <a:solidFill>
            <a:srgbClr val="4A90D9"/>
          </a:solidFill>
          <a:ln w="12700">
            <a:solidFill>
              <a:srgbClr val="4A90D9"/>
            </a:solidFill>
            <a:prstDash val="solid"/>
          </a:ln>
        </p:spPr>
      </p:sp>
      <p:sp>
        <p:nvSpPr>
          <p:cNvPr id="26" name="Text 23"/>
          <p:cNvSpPr/>
          <p:nvPr/>
        </p:nvSpPr>
        <p:spPr>
          <a:xfrm>
            <a:off x="475488" y="4626864"/>
            <a:ext cx="8266176" cy="201168"/>
          </a:xfrm>
          <a:prstGeom prst="rect">
            <a:avLst/>
          </a:prstGeom>
          <a:noFill/>
          <a:ln/>
        </p:spPr>
        <p:txBody>
          <a:bodyPr wrap="square" lIns="0" tIns="0" rIns="0" bIns="0" rtlCol="0" anchor="ctr"/>
          <a:lstStyle/>
          <a:p>
            <a:pPr marL="0" indent="0" algn="l">
              <a:buNone/>
            </a:pPr>
            <a:r>
              <a:rPr lang="en-US" sz="950" dirty="0">
                <a:solidFill>
                  <a:srgbClr val="1E293B"/>
                </a:solidFill>
              </a:rPr>
              <a:t>8 engineered features added after cleaning: Total_Price · Hour · Month · Day · Day_of_Week · ReturnCount · Recency · Frequency · Monetary</a:t>
            </a:r>
            <a:endParaRPr lang="en-US" sz="950" dirty="0"/>
          </a:p>
        </p:txBody>
      </p:sp>
      <p:sp>
        <p:nvSpPr>
          <p:cNvPr id="27" name="Shape 9">
            <a:extLst>
              <a:ext uri="{FF2B5EF4-FFF2-40B4-BE49-F238E27FC236}">
                <a16:creationId xmlns:a16="http://schemas.microsoft.com/office/drawing/2014/main" id="{6EB199F8-804C-EC3B-36FE-9452D899588B}"/>
              </a:ext>
            </a:extLst>
          </p:cNvPr>
          <p:cNvSpPr/>
          <p:nvPr/>
        </p:nvSpPr>
        <p:spPr>
          <a:xfrm>
            <a:off x="5760720" y="1019882"/>
            <a:ext cx="3017520" cy="665018"/>
          </a:xfrm>
          <a:prstGeom prst="rect">
            <a:avLst/>
          </a:prstGeom>
          <a:solidFill>
            <a:srgbClr val="2E5FA3"/>
          </a:solidFill>
          <a:ln w="12700">
            <a:solidFill>
              <a:srgbClr val="2E5FA3"/>
            </a:solidFill>
            <a:prstDash val="solid"/>
          </a:ln>
          <a:effectLst>
            <a:outerShdw blurRad="63500" dist="25400" dir="8100000" algn="bl" rotWithShape="0">
              <a:srgbClr val="000000">
                <a:alpha val="12000"/>
              </a:srgbClr>
            </a:outerShdw>
          </a:effectLst>
        </p:spPr>
        <p:txBody>
          <a:bodyPr/>
          <a:lstStyle/>
          <a:p>
            <a:endParaRPr lang="en-IN" dirty="0"/>
          </a:p>
        </p:txBody>
      </p:sp>
      <p:sp>
        <p:nvSpPr>
          <p:cNvPr id="28" name="Text 10">
            <a:extLst>
              <a:ext uri="{FF2B5EF4-FFF2-40B4-BE49-F238E27FC236}">
                <a16:creationId xmlns:a16="http://schemas.microsoft.com/office/drawing/2014/main" id="{E694F74E-0B89-9B14-816F-75A8AB9D5B1D}"/>
              </a:ext>
            </a:extLst>
          </p:cNvPr>
          <p:cNvSpPr/>
          <p:nvPr/>
        </p:nvSpPr>
        <p:spPr>
          <a:xfrm>
            <a:off x="5760720" y="1032276"/>
            <a:ext cx="3017520" cy="347623"/>
          </a:xfrm>
          <a:prstGeom prst="rect">
            <a:avLst/>
          </a:prstGeom>
          <a:noFill/>
          <a:ln/>
        </p:spPr>
        <p:txBody>
          <a:bodyPr wrap="square" lIns="0" tIns="0" rIns="0" bIns="0" rtlCol="0" anchor="ctr"/>
          <a:lstStyle/>
          <a:p>
            <a:pPr algn="ctr"/>
            <a:r>
              <a:rPr lang="en-IN" sz="2000" b="1" dirty="0">
                <a:solidFill>
                  <a:schemeClr val="bg1"/>
                </a:solidFill>
              </a:rPr>
              <a:t>5,41,909</a:t>
            </a:r>
            <a:endParaRPr lang="en-US" sz="2000" b="1" dirty="0">
              <a:solidFill>
                <a:schemeClr val="bg1"/>
              </a:solidFill>
            </a:endParaRPr>
          </a:p>
        </p:txBody>
      </p:sp>
      <p:sp>
        <p:nvSpPr>
          <p:cNvPr id="29" name="Text 11">
            <a:extLst>
              <a:ext uri="{FF2B5EF4-FFF2-40B4-BE49-F238E27FC236}">
                <a16:creationId xmlns:a16="http://schemas.microsoft.com/office/drawing/2014/main" id="{A47E8045-F5C9-FCA3-65B7-48E780EA3883}"/>
              </a:ext>
            </a:extLst>
          </p:cNvPr>
          <p:cNvSpPr/>
          <p:nvPr/>
        </p:nvSpPr>
        <p:spPr>
          <a:xfrm>
            <a:off x="5760720" y="1456905"/>
            <a:ext cx="3017520" cy="211596"/>
          </a:xfrm>
          <a:prstGeom prst="rect">
            <a:avLst/>
          </a:prstGeom>
          <a:noFill/>
          <a:ln/>
        </p:spPr>
        <p:txBody>
          <a:bodyPr wrap="square" lIns="0" tIns="0" rIns="0" bIns="0" rtlCol="0" anchor="ctr"/>
          <a:lstStyle/>
          <a:p>
            <a:pPr marL="0" indent="0" algn="ctr">
              <a:buNone/>
            </a:pPr>
            <a:r>
              <a:rPr lang="en-US" sz="900" dirty="0">
                <a:solidFill>
                  <a:srgbClr val="D4E8FF"/>
                </a:solidFill>
              </a:rPr>
              <a:t>Transactions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EDA: Market Insights</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pic>
        <p:nvPicPr>
          <p:cNvPr id="9" name="Image 0" descr="/mnt/user-data/uploads/1773072592030_image.png"/>
          <p:cNvPicPr>
            <a:picLocks noChangeAspect="1"/>
          </p:cNvPicPr>
          <p:nvPr/>
        </p:nvPicPr>
        <p:blipFill>
          <a:blip r:embed="rId3"/>
          <a:srcRect/>
          <a:stretch/>
        </p:blipFill>
        <p:spPr>
          <a:xfrm>
            <a:off x="365760" y="749808"/>
            <a:ext cx="8412480" cy="3291840"/>
          </a:xfrm>
          <a:prstGeom prst="rect">
            <a:avLst/>
          </a:prstGeom>
        </p:spPr>
      </p:pic>
      <p:sp>
        <p:nvSpPr>
          <p:cNvPr id="10" name="Shape 7"/>
          <p:cNvSpPr/>
          <p:nvPr/>
        </p:nvSpPr>
        <p:spPr>
          <a:xfrm>
            <a:off x="365760" y="4169664"/>
            <a:ext cx="4069080" cy="548640"/>
          </a:xfrm>
          <a:prstGeom prst="rect">
            <a:avLst/>
          </a:prstGeom>
          <a:solidFill>
            <a:srgbClr val="EFF6FF"/>
          </a:solidFill>
          <a:ln w="6350">
            <a:solidFill>
              <a:srgbClr val="E2E8F0"/>
            </a:solidFill>
            <a:prstDash val="solid"/>
          </a:ln>
        </p:spPr>
      </p:sp>
      <p:sp>
        <p:nvSpPr>
          <p:cNvPr id="11" name="Shape 8"/>
          <p:cNvSpPr/>
          <p:nvPr/>
        </p:nvSpPr>
        <p:spPr>
          <a:xfrm>
            <a:off x="365760" y="4169664"/>
            <a:ext cx="50292" cy="548640"/>
          </a:xfrm>
          <a:prstGeom prst="rect">
            <a:avLst/>
          </a:prstGeom>
          <a:solidFill>
            <a:srgbClr val="4A90D9"/>
          </a:solidFill>
          <a:ln w="12700">
            <a:solidFill>
              <a:srgbClr val="4A90D9"/>
            </a:solidFill>
            <a:prstDash val="solid"/>
          </a:ln>
        </p:spPr>
      </p:sp>
      <p:sp>
        <p:nvSpPr>
          <p:cNvPr id="12" name="Text 9"/>
          <p:cNvSpPr/>
          <p:nvPr/>
        </p:nvSpPr>
        <p:spPr>
          <a:xfrm>
            <a:off x="475488" y="4169664"/>
            <a:ext cx="3922776" cy="548640"/>
          </a:xfrm>
          <a:prstGeom prst="rect">
            <a:avLst/>
          </a:prstGeom>
          <a:noFill/>
          <a:ln/>
        </p:spPr>
        <p:txBody>
          <a:bodyPr wrap="square" lIns="0" tIns="0" rIns="0" bIns="0" rtlCol="0" anchor="ctr"/>
          <a:lstStyle/>
          <a:p>
            <a:pPr marL="0" indent="0" algn="l">
              <a:buNone/>
            </a:pPr>
            <a:r>
              <a:rPr lang="en-US" sz="950" dirty="0">
                <a:solidFill>
                  <a:srgbClr val="1E293B"/>
                </a:solidFill>
              </a:rPr>
              <a:t>Top product 'White Hanging Heart T-Light Holder' has 2,016 transactions — almost 2× the 10th product. Hero products must always stay in stock.</a:t>
            </a:r>
            <a:endParaRPr lang="en-US" sz="950" dirty="0"/>
          </a:p>
        </p:txBody>
      </p:sp>
      <p:sp>
        <p:nvSpPr>
          <p:cNvPr id="13" name="Shape 10"/>
          <p:cNvSpPr/>
          <p:nvPr/>
        </p:nvSpPr>
        <p:spPr>
          <a:xfrm>
            <a:off x="4553712" y="4169664"/>
            <a:ext cx="4224528" cy="548640"/>
          </a:xfrm>
          <a:prstGeom prst="rect">
            <a:avLst/>
          </a:prstGeom>
          <a:solidFill>
            <a:srgbClr val="F0FFF4"/>
          </a:solidFill>
          <a:ln w="6350">
            <a:solidFill>
              <a:srgbClr val="E2E8F0"/>
            </a:solidFill>
            <a:prstDash val="solid"/>
          </a:ln>
        </p:spPr>
      </p:sp>
      <p:sp>
        <p:nvSpPr>
          <p:cNvPr id="14" name="Shape 11"/>
          <p:cNvSpPr/>
          <p:nvPr/>
        </p:nvSpPr>
        <p:spPr>
          <a:xfrm>
            <a:off x="4553712" y="4169664"/>
            <a:ext cx="50292" cy="548640"/>
          </a:xfrm>
          <a:prstGeom prst="rect">
            <a:avLst/>
          </a:prstGeom>
          <a:solidFill>
            <a:srgbClr val="4A90D9"/>
          </a:solidFill>
          <a:ln w="12700">
            <a:solidFill>
              <a:srgbClr val="4A90D9"/>
            </a:solidFill>
            <a:prstDash val="solid"/>
          </a:ln>
        </p:spPr>
      </p:sp>
      <p:sp>
        <p:nvSpPr>
          <p:cNvPr id="15" name="Text 12"/>
          <p:cNvSpPr/>
          <p:nvPr/>
        </p:nvSpPr>
        <p:spPr>
          <a:xfrm>
            <a:off x="4663440" y="4169664"/>
            <a:ext cx="4078224" cy="548640"/>
          </a:xfrm>
          <a:prstGeom prst="rect">
            <a:avLst/>
          </a:prstGeom>
          <a:noFill/>
          <a:ln/>
        </p:spPr>
        <p:txBody>
          <a:bodyPr wrap="square" lIns="0" tIns="0" rIns="0" bIns="0" rtlCol="0" anchor="ctr"/>
          <a:lstStyle/>
          <a:p>
            <a:pPr marL="0" indent="0" algn="l">
              <a:buNone/>
            </a:pPr>
            <a:r>
              <a:rPr lang="en-US" sz="950" dirty="0">
                <a:solidFill>
                  <a:srgbClr val="1E293B"/>
                </a:solidFill>
              </a:rPr>
              <a:t>UK dominates with ~96.6% of all transactions. This is a domestically focused business — UK-first logistics is critical.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EDA: Temporal Patterns</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Text 7"/>
          <p:cNvSpPr/>
          <p:nvPr/>
        </p:nvSpPr>
        <p:spPr>
          <a:xfrm>
            <a:off x="365760" y="749808"/>
            <a:ext cx="4160520" cy="256032"/>
          </a:xfrm>
          <a:prstGeom prst="rect">
            <a:avLst/>
          </a:prstGeom>
          <a:noFill/>
          <a:ln/>
        </p:spPr>
        <p:txBody>
          <a:bodyPr wrap="square" lIns="0" tIns="0" rIns="0" bIns="0" rtlCol="0" anchor="ctr"/>
          <a:lstStyle/>
          <a:p>
            <a:pPr marL="0" indent="0">
              <a:buNone/>
            </a:pPr>
            <a:r>
              <a:rPr lang="en-US" sz="1100" b="1" dirty="0">
                <a:solidFill>
                  <a:srgbClr val="1B2763"/>
                </a:solidFill>
              </a:rPr>
              <a:t>Revenue by Month</a:t>
            </a:r>
            <a:endParaRPr lang="en-US" sz="1100" dirty="0"/>
          </a:p>
        </p:txBody>
      </p:sp>
      <p:pic>
        <p:nvPicPr>
          <p:cNvPr id="10" name="Image 0" descr="/mnt/user-data/uploads/1773072607017_image.png"/>
          <p:cNvPicPr>
            <a:picLocks noChangeAspect="1"/>
          </p:cNvPicPr>
          <p:nvPr/>
        </p:nvPicPr>
        <p:blipFill>
          <a:blip r:embed="rId3"/>
          <a:srcRect/>
          <a:stretch/>
        </p:blipFill>
        <p:spPr>
          <a:xfrm>
            <a:off x="365760" y="1033272"/>
            <a:ext cx="4160520" cy="2560320"/>
          </a:xfrm>
          <a:prstGeom prst="rect">
            <a:avLst/>
          </a:prstGeom>
        </p:spPr>
      </p:pic>
      <p:sp>
        <p:nvSpPr>
          <p:cNvPr id="11" name="Shape 8"/>
          <p:cNvSpPr/>
          <p:nvPr/>
        </p:nvSpPr>
        <p:spPr>
          <a:xfrm>
            <a:off x="4617720" y="749808"/>
            <a:ext cx="0" cy="2907792"/>
          </a:xfrm>
          <a:prstGeom prst="line">
            <a:avLst/>
          </a:prstGeom>
          <a:noFill/>
          <a:ln w="6350">
            <a:solidFill>
              <a:srgbClr val="E2E8F0"/>
            </a:solidFill>
            <a:prstDash val="solid"/>
          </a:ln>
        </p:spPr>
      </p:sp>
      <p:sp>
        <p:nvSpPr>
          <p:cNvPr id="12" name="Text 9"/>
          <p:cNvSpPr/>
          <p:nvPr/>
        </p:nvSpPr>
        <p:spPr>
          <a:xfrm>
            <a:off x="4754880" y="749808"/>
            <a:ext cx="4023360" cy="256032"/>
          </a:xfrm>
          <a:prstGeom prst="rect">
            <a:avLst/>
          </a:prstGeom>
          <a:noFill/>
          <a:ln/>
        </p:spPr>
        <p:txBody>
          <a:bodyPr wrap="square" lIns="0" tIns="0" rIns="0" bIns="0" rtlCol="0" anchor="ctr"/>
          <a:lstStyle/>
          <a:p>
            <a:pPr marL="0" indent="0">
              <a:buNone/>
            </a:pPr>
            <a:r>
              <a:rPr lang="en-US" sz="1100" b="1" dirty="0">
                <a:solidFill>
                  <a:srgbClr val="1B2763"/>
                </a:solidFill>
              </a:rPr>
              <a:t>Store Traffic by Hour</a:t>
            </a:r>
            <a:endParaRPr lang="en-US" sz="1100" dirty="0"/>
          </a:p>
        </p:txBody>
      </p:sp>
      <p:pic>
        <p:nvPicPr>
          <p:cNvPr id="13" name="Image 1" descr="/mnt/user-data/uploads/1773072617300_image.png"/>
          <p:cNvPicPr>
            <a:picLocks noChangeAspect="1"/>
          </p:cNvPicPr>
          <p:nvPr/>
        </p:nvPicPr>
        <p:blipFill>
          <a:blip r:embed="rId4"/>
          <a:srcRect/>
          <a:stretch/>
        </p:blipFill>
        <p:spPr>
          <a:xfrm>
            <a:off x="4754880" y="1033272"/>
            <a:ext cx="4023360" cy="2560320"/>
          </a:xfrm>
          <a:prstGeom prst="rect">
            <a:avLst/>
          </a:prstGeom>
        </p:spPr>
      </p:pic>
      <p:sp>
        <p:nvSpPr>
          <p:cNvPr id="14" name="Shape 10"/>
          <p:cNvSpPr/>
          <p:nvPr/>
        </p:nvSpPr>
        <p:spPr>
          <a:xfrm>
            <a:off x="365760" y="3749040"/>
            <a:ext cx="4160520" cy="585216"/>
          </a:xfrm>
          <a:prstGeom prst="rect">
            <a:avLst/>
          </a:prstGeom>
          <a:solidFill>
            <a:srgbClr val="EFF6FF"/>
          </a:solidFill>
          <a:ln w="6350">
            <a:solidFill>
              <a:srgbClr val="E2E8F0"/>
            </a:solidFill>
            <a:prstDash val="solid"/>
          </a:ln>
        </p:spPr>
      </p:sp>
      <p:sp>
        <p:nvSpPr>
          <p:cNvPr id="15" name="Shape 11"/>
          <p:cNvSpPr/>
          <p:nvPr/>
        </p:nvSpPr>
        <p:spPr>
          <a:xfrm>
            <a:off x="365760" y="3749040"/>
            <a:ext cx="50292" cy="585216"/>
          </a:xfrm>
          <a:prstGeom prst="rect">
            <a:avLst/>
          </a:prstGeom>
          <a:solidFill>
            <a:srgbClr val="4A90D9"/>
          </a:solidFill>
          <a:ln w="12700">
            <a:solidFill>
              <a:srgbClr val="4A90D9"/>
            </a:solidFill>
            <a:prstDash val="solid"/>
          </a:ln>
        </p:spPr>
      </p:sp>
      <p:sp>
        <p:nvSpPr>
          <p:cNvPr id="16" name="Text 12"/>
          <p:cNvSpPr/>
          <p:nvPr/>
        </p:nvSpPr>
        <p:spPr>
          <a:xfrm>
            <a:off x="475488" y="3749040"/>
            <a:ext cx="4014216" cy="585216"/>
          </a:xfrm>
          <a:prstGeom prst="rect">
            <a:avLst/>
          </a:prstGeom>
          <a:noFill/>
          <a:ln/>
        </p:spPr>
        <p:txBody>
          <a:bodyPr wrap="square" lIns="0" tIns="0" rIns="0" bIns="0" rtlCol="0" anchor="ctr"/>
          <a:lstStyle/>
          <a:p>
            <a:pPr marL="0" indent="0" algn="l">
              <a:buNone/>
            </a:pPr>
            <a:r>
              <a:rPr lang="en-US" sz="950" dirty="0">
                <a:solidFill>
                  <a:srgbClr val="1E293B"/>
                </a:solidFill>
              </a:rPr>
              <a:t>Peak revenue: $1.137M in November — holiday gifting effect. Businesses must scale inventory from October onwards.</a:t>
            </a:r>
            <a:endParaRPr lang="en-US" sz="950" dirty="0"/>
          </a:p>
        </p:txBody>
      </p:sp>
      <p:sp>
        <p:nvSpPr>
          <p:cNvPr id="17" name="Shape 13"/>
          <p:cNvSpPr/>
          <p:nvPr/>
        </p:nvSpPr>
        <p:spPr>
          <a:xfrm>
            <a:off x="4754880" y="3749040"/>
            <a:ext cx="4023360" cy="585216"/>
          </a:xfrm>
          <a:prstGeom prst="rect">
            <a:avLst/>
          </a:prstGeom>
          <a:solidFill>
            <a:srgbClr val="FFF7ED"/>
          </a:solidFill>
          <a:ln w="6350">
            <a:solidFill>
              <a:srgbClr val="E2E8F0"/>
            </a:solidFill>
            <a:prstDash val="solid"/>
          </a:ln>
        </p:spPr>
      </p:sp>
      <p:sp>
        <p:nvSpPr>
          <p:cNvPr id="18" name="Shape 14"/>
          <p:cNvSpPr/>
          <p:nvPr/>
        </p:nvSpPr>
        <p:spPr>
          <a:xfrm>
            <a:off x="4754880" y="3749040"/>
            <a:ext cx="50292" cy="585216"/>
          </a:xfrm>
          <a:prstGeom prst="rect">
            <a:avLst/>
          </a:prstGeom>
          <a:solidFill>
            <a:srgbClr val="4A90D9"/>
          </a:solidFill>
          <a:ln w="12700">
            <a:solidFill>
              <a:srgbClr val="4A90D9"/>
            </a:solidFill>
            <a:prstDash val="solid"/>
          </a:ln>
        </p:spPr>
      </p:sp>
      <p:sp>
        <p:nvSpPr>
          <p:cNvPr id="19" name="Text 15"/>
          <p:cNvSpPr/>
          <p:nvPr/>
        </p:nvSpPr>
        <p:spPr>
          <a:xfrm>
            <a:off x="4864608" y="3749040"/>
            <a:ext cx="3877056" cy="585216"/>
          </a:xfrm>
          <a:prstGeom prst="rect">
            <a:avLst/>
          </a:prstGeom>
          <a:noFill/>
          <a:ln/>
        </p:spPr>
        <p:txBody>
          <a:bodyPr wrap="square" lIns="0" tIns="0" rIns="0" bIns="0" rtlCol="0" anchor="ctr"/>
          <a:lstStyle/>
          <a:p>
            <a:pPr marL="0" indent="0" algn="l">
              <a:buNone/>
            </a:pPr>
            <a:r>
              <a:rPr lang="en-US" sz="950" dirty="0">
                <a:solidFill>
                  <a:srgbClr val="1E293B"/>
                </a:solidFill>
              </a:rPr>
              <a:t>12 PM golden hour: 3,120 orders — 2.8× more than 8 AM. Run flash sales and push notifications exactly at noon.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RFM Analysis — Customer Behavioural Scoring</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pic>
        <p:nvPicPr>
          <p:cNvPr id="9" name="Image 0" descr="/mnt/user-data/uploads/1773072632149_image.png"/>
          <p:cNvPicPr>
            <a:picLocks noChangeAspect="1"/>
          </p:cNvPicPr>
          <p:nvPr/>
        </p:nvPicPr>
        <p:blipFill>
          <a:blip r:embed="rId3"/>
          <a:srcRect/>
          <a:stretch/>
        </p:blipFill>
        <p:spPr>
          <a:xfrm>
            <a:off x="365760" y="749808"/>
            <a:ext cx="5486400" cy="3108960"/>
          </a:xfrm>
          <a:prstGeom prst="rect">
            <a:avLst/>
          </a:prstGeom>
        </p:spPr>
      </p:pic>
      <p:sp>
        <p:nvSpPr>
          <p:cNvPr id="10" name="Shape 7"/>
          <p:cNvSpPr/>
          <p:nvPr/>
        </p:nvSpPr>
        <p:spPr>
          <a:xfrm>
            <a:off x="6080760" y="804672"/>
            <a:ext cx="2743200" cy="914400"/>
          </a:xfrm>
          <a:prstGeom prst="rect">
            <a:avLst/>
          </a:prstGeom>
          <a:solidFill>
            <a:srgbClr val="2E5FA3"/>
          </a:solidFill>
          <a:ln w="12700">
            <a:solidFill>
              <a:srgbClr val="2E5FA3"/>
            </a:solidFill>
            <a:prstDash val="solid"/>
          </a:ln>
          <a:effectLst>
            <a:outerShdw blurRad="63500" dist="25400" dir="8100000" algn="bl" rotWithShape="0">
              <a:srgbClr val="000000">
                <a:alpha val="12000"/>
              </a:srgbClr>
            </a:outerShdw>
          </a:effectLst>
        </p:spPr>
      </p:sp>
      <p:sp>
        <p:nvSpPr>
          <p:cNvPr id="11" name="Text 8"/>
          <p:cNvSpPr/>
          <p:nvPr/>
        </p:nvSpPr>
        <p:spPr>
          <a:xfrm>
            <a:off x="6108192" y="804672"/>
            <a:ext cx="502920" cy="914400"/>
          </a:xfrm>
          <a:prstGeom prst="rect">
            <a:avLst/>
          </a:prstGeom>
          <a:noFill/>
          <a:ln/>
        </p:spPr>
        <p:txBody>
          <a:bodyPr wrap="square" lIns="0" tIns="0" rIns="0" bIns="0" rtlCol="0" anchor="ctr"/>
          <a:lstStyle/>
          <a:p>
            <a:pPr marL="0" indent="0" algn="ctr">
              <a:buNone/>
            </a:pPr>
            <a:r>
              <a:rPr lang="en-US" sz="3000" b="1" dirty="0">
                <a:solidFill>
                  <a:srgbClr val="FFFFFF"/>
                </a:solidFill>
              </a:rPr>
              <a:t>R</a:t>
            </a:r>
            <a:endParaRPr lang="en-US" sz="3000" dirty="0"/>
          </a:p>
        </p:txBody>
      </p:sp>
      <p:sp>
        <p:nvSpPr>
          <p:cNvPr id="12" name="Shape 9"/>
          <p:cNvSpPr/>
          <p:nvPr/>
        </p:nvSpPr>
        <p:spPr>
          <a:xfrm>
            <a:off x="6638544" y="896112"/>
            <a:ext cx="0" cy="713232"/>
          </a:xfrm>
          <a:prstGeom prst="line">
            <a:avLst/>
          </a:prstGeom>
          <a:noFill/>
          <a:ln w="5080">
            <a:solidFill>
              <a:srgbClr val="FFFFFF">
                <a:alpha val="40000"/>
              </a:srgbClr>
            </a:solidFill>
            <a:prstDash val="solid"/>
          </a:ln>
        </p:spPr>
      </p:sp>
      <p:sp>
        <p:nvSpPr>
          <p:cNvPr id="13" name="Text 10"/>
          <p:cNvSpPr/>
          <p:nvPr/>
        </p:nvSpPr>
        <p:spPr>
          <a:xfrm>
            <a:off x="6693408" y="859536"/>
            <a:ext cx="2084832" cy="292608"/>
          </a:xfrm>
          <a:prstGeom prst="rect">
            <a:avLst/>
          </a:prstGeom>
          <a:noFill/>
          <a:ln/>
        </p:spPr>
        <p:txBody>
          <a:bodyPr wrap="square" lIns="0" tIns="0" rIns="0" bIns="0" rtlCol="0" anchor="ctr"/>
          <a:lstStyle/>
          <a:p>
            <a:pPr marL="0" indent="0">
              <a:buNone/>
            </a:pPr>
            <a:r>
              <a:rPr lang="en-US" sz="1300" b="1" dirty="0">
                <a:solidFill>
                  <a:srgbClr val="FFFFFF"/>
                </a:solidFill>
              </a:rPr>
              <a:t>Recency</a:t>
            </a:r>
            <a:endParaRPr lang="en-US" sz="1300" dirty="0"/>
          </a:p>
        </p:txBody>
      </p:sp>
      <p:sp>
        <p:nvSpPr>
          <p:cNvPr id="14" name="Text 11"/>
          <p:cNvSpPr/>
          <p:nvPr/>
        </p:nvSpPr>
        <p:spPr>
          <a:xfrm>
            <a:off x="6693408" y="1152144"/>
            <a:ext cx="2084832" cy="237744"/>
          </a:xfrm>
          <a:prstGeom prst="rect">
            <a:avLst/>
          </a:prstGeom>
          <a:noFill/>
          <a:ln/>
        </p:spPr>
        <p:txBody>
          <a:bodyPr wrap="square" lIns="0" tIns="0" rIns="0" bIns="0" rtlCol="0" anchor="ctr"/>
          <a:lstStyle/>
          <a:p>
            <a:pPr marL="0" indent="0">
              <a:buNone/>
            </a:pPr>
            <a:r>
              <a:rPr lang="en-US" sz="850" dirty="0">
                <a:solidFill>
                  <a:srgbClr val="D4E8FF"/>
                </a:solidFill>
              </a:rPr>
              <a:t>Days since last purchase</a:t>
            </a:r>
            <a:endParaRPr lang="en-US" sz="850" dirty="0"/>
          </a:p>
        </p:txBody>
      </p:sp>
      <p:sp>
        <p:nvSpPr>
          <p:cNvPr id="15" name="Text 12"/>
          <p:cNvSpPr/>
          <p:nvPr/>
        </p:nvSpPr>
        <p:spPr>
          <a:xfrm>
            <a:off x="6693408" y="1408176"/>
            <a:ext cx="2084832" cy="219456"/>
          </a:xfrm>
          <a:prstGeom prst="rect">
            <a:avLst/>
          </a:prstGeom>
          <a:noFill/>
          <a:ln/>
        </p:spPr>
        <p:txBody>
          <a:bodyPr wrap="square" lIns="0" tIns="0" rIns="0" bIns="0" rtlCol="0" anchor="ctr"/>
          <a:lstStyle/>
          <a:p>
            <a:pPr marL="0" indent="0">
              <a:buNone/>
            </a:pPr>
            <a:r>
              <a:rPr lang="en-US" sz="900" b="1" dirty="0">
                <a:solidFill>
                  <a:srgbClr val="FBBF24"/>
                </a:solidFill>
              </a:rPr>
              <a:t>Avg: 93 days</a:t>
            </a:r>
            <a:endParaRPr lang="en-US" sz="900" dirty="0"/>
          </a:p>
        </p:txBody>
      </p:sp>
      <p:sp>
        <p:nvSpPr>
          <p:cNvPr id="16" name="Shape 13"/>
          <p:cNvSpPr/>
          <p:nvPr/>
        </p:nvSpPr>
        <p:spPr>
          <a:xfrm>
            <a:off x="6080760" y="1865376"/>
            <a:ext cx="2743200" cy="914400"/>
          </a:xfrm>
          <a:prstGeom prst="rect">
            <a:avLst/>
          </a:prstGeom>
          <a:solidFill>
            <a:srgbClr val="1A5276"/>
          </a:solidFill>
          <a:ln w="12700">
            <a:solidFill>
              <a:srgbClr val="1A5276"/>
            </a:solidFill>
            <a:prstDash val="solid"/>
          </a:ln>
          <a:effectLst>
            <a:outerShdw blurRad="63500" dist="25400" dir="8100000" algn="bl" rotWithShape="0">
              <a:srgbClr val="000000">
                <a:alpha val="12000"/>
              </a:srgbClr>
            </a:outerShdw>
          </a:effectLst>
        </p:spPr>
      </p:sp>
      <p:sp>
        <p:nvSpPr>
          <p:cNvPr id="17" name="Text 14"/>
          <p:cNvSpPr/>
          <p:nvPr/>
        </p:nvSpPr>
        <p:spPr>
          <a:xfrm>
            <a:off x="6108192" y="1865376"/>
            <a:ext cx="502920" cy="914400"/>
          </a:xfrm>
          <a:prstGeom prst="rect">
            <a:avLst/>
          </a:prstGeom>
          <a:noFill/>
          <a:ln/>
        </p:spPr>
        <p:txBody>
          <a:bodyPr wrap="square" lIns="0" tIns="0" rIns="0" bIns="0" rtlCol="0" anchor="ctr"/>
          <a:lstStyle/>
          <a:p>
            <a:pPr marL="0" indent="0" algn="ctr">
              <a:buNone/>
            </a:pPr>
            <a:r>
              <a:rPr lang="en-US" sz="3000" b="1" dirty="0">
                <a:solidFill>
                  <a:srgbClr val="FFFFFF"/>
                </a:solidFill>
              </a:rPr>
              <a:t>F</a:t>
            </a:r>
            <a:endParaRPr lang="en-US" sz="3000" dirty="0"/>
          </a:p>
        </p:txBody>
      </p:sp>
      <p:sp>
        <p:nvSpPr>
          <p:cNvPr id="18" name="Shape 15"/>
          <p:cNvSpPr/>
          <p:nvPr/>
        </p:nvSpPr>
        <p:spPr>
          <a:xfrm>
            <a:off x="6638544" y="1956816"/>
            <a:ext cx="0" cy="713232"/>
          </a:xfrm>
          <a:prstGeom prst="line">
            <a:avLst/>
          </a:prstGeom>
          <a:noFill/>
          <a:ln w="5080">
            <a:solidFill>
              <a:srgbClr val="FFFFFF">
                <a:alpha val="40000"/>
              </a:srgbClr>
            </a:solidFill>
            <a:prstDash val="solid"/>
          </a:ln>
        </p:spPr>
      </p:sp>
      <p:sp>
        <p:nvSpPr>
          <p:cNvPr id="19" name="Text 16"/>
          <p:cNvSpPr/>
          <p:nvPr/>
        </p:nvSpPr>
        <p:spPr>
          <a:xfrm>
            <a:off x="6693408" y="1920240"/>
            <a:ext cx="2084832" cy="292608"/>
          </a:xfrm>
          <a:prstGeom prst="rect">
            <a:avLst/>
          </a:prstGeom>
          <a:noFill/>
          <a:ln/>
        </p:spPr>
        <p:txBody>
          <a:bodyPr wrap="square" lIns="0" tIns="0" rIns="0" bIns="0" rtlCol="0" anchor="ctr"/>
          <a:lstStyle/>
          <a:p>
            <a:pPr marL="0" indent="0">
              <a:buNone/>
            </a:pPr>
            <a:r>
              <a:rPr lang="en-US" sz="1300" b="1" dirty="0">
                <a:solidFill>
                  <a:srgbClr val="FFFFFF"/>
                </a:solidFill>
              </a:rPr>
              <a:t>Frequency</a:t>
            </a:r>
            <a:endParaRPr lang="en-US" sz="1300" dirty="0"/>
          </a:p>
        </p:txBody>
      </p:sp>
      <p:sp>
        <p:nvSpPr>
          <p:cNvPr id="20" name="Text 17"/>
          <p:cNvSpPr/>
          <p:nvPr/>
        </p:nvSpPr>
        <p:spPr>
          <a:xfrm>
            <a:off x="6693408" y="2212848"/>
            <a:ext cx="2084832" cy="237744"/>
          </a:xfrm>
          <a:prstGeom prst="rect">
            <a:avLst/>
          </a:prstGeom>
          <a:noFill/>
          <a:ln/>
        </p:spPr>
        <p:txBody>
          <a:bodyPr wrap="square" lIns="0" tIns="0" rIns="0" bIns="0" rtlCol="0" anchor="ctr"/>
          <a:lstStyle/>
          <a:p>
            <a:pPr marL="0" indent="0">
              <a:buNone/>
            </a:pPr>
            <a:r>
              <a:rPr lang="en-US" sz="850" dirty="0">
                <a:solidFill>
                  <a:srgbClr val="D4E8FF"/>
                </a:solidFill>
              </a:rPr>
              <a:t>Unique orders placed</a:t>
            </a:r>
            <a:endParaRPr lang="en-US" sz="850" dirty="0"/>
          </a:p>
        </p:txBody>
      </p:sp>
      <p:sp>
        <p:nvSpPr>
          <p:cNvPr id="21" name="Text 18"/>
          <p:cNvSpPr/>
          <p:nvPr/>
        </p:nvSpPr>
        <p:spPr>
          <a:xfrm>
            <a:off x="6693408" y="2468880"/>
            <a:ext cx="2084832" cy="219456"/>
          </a:xfrm>
          <a:prstGeom prst="rect">
            <a:avLst/>
          </a:prstGeom>
          <a:noFill/>
          <a:ln/>
        </p:spPr>
        <p:txBody>
          <a:bodyPr wrap="square" lIns="0" tIns="0" rIns="0" bIns="0" rtlCol="0" anchor="ctr"/>
          <a:lstStyle/>
          <a:p>
            <a:pPr marL="0" indent="0">
              <a:buNone/>
            </a:pPr>
            <a:r>
              <a:rPr lang="en-US" sz="900" b="1" dirty="0">
                <a:solidFill>
                  <a:srgbClr val="FBBF24"/>
                </a:solidFill>
              </a:rPr>
              <a:t>Avg: 4.2 orders</a:t>
            </a:r>
            <a:endParaRPr lang="en-US" sz="900" dirty="0"/>
          </a:p>
        </p:txBody>
      </p:sp>
      <p:sp>
        <p:nvSpPr>
          <p:cNvPr id="22" name="Shape 19"/>
          <p:cNvSpPr/>
          <p:nvPr/>
        </p:nvSpPr>
        <p:spPr>
          <a:xfrm>
            <a:off x="6080760" y="2926080"/>
            <a:ext cx="2743200" cy="914400"/>
          </a:xfrm>
          <a:prstGeom prst="rect">
            <a:avLst/>
          </a:prstGeom>
          <a:solidFill>
            <a:srgbClr val="145A32"/>
          </a:solidFill>
          <a:ln w="12700">
            <a:solidFill>
              <a:srgbClr val="145A32"/>
            </a:solidFill>
            <a:prstDash val="solid"/>
          </a:ln>
          <a:effectLst>
            <a:outerShdw blurRad="63500" dist="25400" dir="8100000" algn="bl" rotWithShape="0">
              <a:srgbClr val="000000">
                <a:alpha val="12000"/>
              </a:srgbClr>
            </a:outerShdw>
          </a:effectLst>
        </p:spPr>
      </p:sp>
      <p:sp>
        <p:nvSpPr>
          <p:cNvPr id="23" name="Text 20"/>
          <p:cNvSpPr/>
          <p:nvPr/>
        </p:nvSpPr>
        <p:spPr>
          <a:xfrm>
            <a:off x="6108192" y="2926080"/>
            <a:ext cx="502920" cy="914400"/>
          </a:xfrm>
          <a:prstGeom prst="rect">
            <a:avLst/>
          </a:prstGeom>
          <a:noFill/>
          <a:ln/>
        </p:spPr>
        <p:txBody>
          <a:bodyPr wrap="square" lIns="0" tIns="0" rIns="0" bIns="0" rtlCol="0" anchor="ctr"/>
          <a:lstStyle/>
          <a:p>
            <a:pPr marL="0" indent="0" algn="ctr">
              <a:buNone/>
            </a:pPr>
            <a:r>
              <a:rPr lang="en-US" sz="3000" b="1" dirty="0">
                <a:solidFill>
                  <a:srgbClr val="FFFFFF"/>
                </a:solidFill>
              </a:rPr>
              <a:t>M</a:t>
            </a:r>
            <a:endParaRPr lang="en-US" sz="3000" dirty="0"/>
          </a:p>
        </p:txBody>
      </p:sp>
      <p:sp>
        <p:nvSpPr>
          <p:cNvPr id="24" name="Shape 21"/>
          <p:cNvSpPr/>
          <p:nvPr/>
        </p:nvSpPr>
        <p:spPr>
          <a:xfrm>
            <a:off x="6638544" y="3017520"/>
            <a:ext cx="0" cy="713232"/>
          </a:xfrm>
          <a:prstGeom prst="line">
            <a:avLst/>
          </a:prstGeom>
          <a:noFill/>
          <a:ln w="5080">
            <a:solidFill>
              <a:srgbClr val="FFFFFF">
                <a:alpha val="40000"/>
              </a:srgbClr>
            </a:solidFill>
            <a:prstDash val="solid"/>
          </a:ln>
        </p:spPr>
      </p:sp>
      <p:sp>
        <p:nvSpPr>
          <p:cNvPr id="25" name="Text 22"/>
          <p:cNvSpPr/>
          <p:nvPr/>
        </p:nvSpPr>
        <p:spPr>
          <a:xfrm>
            <a:off x="6693408" y="2980944"/>
            <a:ext cx="2084832" cy="292608"/>
          </a:xfrm>
          <a:prstGeom prst="rect">
            <a:avLst/>
          </a:prstGeom>
          <a:noFill/>
          <a:ln/>
        </p:spPr>
        <p:txBody>
          <a:bodyPr wrap="square" lIns="0" tIns="0" rIns="0" bIns="0" rtlCol="0" anchor="ctr"/>
          <a:lstStyle/>
          <a:p>
            <a:pPr marL="0" indent="0">
              <a:buNone/>
            </a:pPr>
            <a:r>
              <a:rPr lang="en-US" sz="1300" b="1" dirty="0">
                <a:solidFill>
                  <a:srgbClr val="FFFFFF"/>
                </a:solidFill>
              </a:rPr>
              <a:t>Monetary</a:t>
            </a:r>
            <a:endParaRPr lang="en-US" sz="1300" dirty="0"/>
          </a:p>
        </p:txBody>
      </p:sp>
      <p:sp>
        <p:nvSpPr>
          <p:cNvPr id="26" name="Text 23"/>
          <p:cNvSpPr/>
          <p:nvPr/>
        </p:nvSpPr>
        <p:spPr>
          <a:xfrm>
            <a:off x="6693408" y="3273552"/>
            <a:ext cx="2084832" cy="237744"/>
          </a:xfrm>
          <a:prstGeom prst="rect">
            <a:avLst/>
          </a:prstGeom>
          <a:noFill/>
          <a:ln/>
        </p:spPr>
        <p:txBody>
          <a:bodyPr wrap="square" lIns="0" tIns="0" rIns="0" bIns="0" rtlCol="0" anchor="ctr"/>
          <a:lstStyle/>
          <a:p>
            <a:pPr marL="0" indent="0">
              <a:buNone/>
            </a:pPr>
            <a:r>
              <a:rPr lang="en-US" sz="850" dirty="0">
                <a:solidFill>
                  <a:srgbClr val="D4E8FF"/>
                </a:solidFill>
              </a:rPr>
              <a:t>Total spend across all orders</a:t>
            </a:r>
            <a:endParaRPr lang="en-US" sz="850" dirty="0"/>
          </a:p>
        </p:txBody>
      </p:sp>
      <p:sp>
        <p:nvSpPr>
          <p:cNvPr id="27" name="Text 24"/>
          <p:cNvSpPr/>
          <p:nvPr/>
        </p:nvSpPr>
        <p:spPr>
          <a:xfrm>
            <a:off x="6693408" y="3529584"/>
            <a:ext cx="2084832" cy="219456"/>
          </a:xfrm>
          <a:prstGeom prst="rect">
            <a:avLst/>
          </a:prstGeom>
          <a:noFill/>
          <a:ln/>
        </p:spPr>
        <p:txBody>
          <a:bodyPr wrap="square" lIns="0" tIns="0" rIns="0" bIns="0" rtlCol="0" anchor="ctr"/>
          <a:lstStyle/>
          <a:p>
            <a:pPr marL="0" indent="0">
              <a:buNone/>
            </a:pPr>
            <a:r>
              <a:rPr lang="en-US" sz="900" b="1" dirty="0">
                <a:solidFill>
                  <a:srgbClr val="FBBF24"/>
                </a:solidFill>
              </a:rPr>
              <a:t>Avg: £2,017</a:t>
            </a:r>
            <a:endParaRPr lang="en-US" sz="900" dirty="0"/>
          </a:p>
        </p:txBody>
      </p:sp>
      <p:sp>
        <p:nvSpPr>
          <p:cNvPr id="28" name="Shape 25"/>
          <p:cNvSpPr/>
          <p:nvPr/>
        </p:nvSpPr>
        <p:spPr>
          <a:xfrm>
            <a:off x="365760" y="3986784"/>
            <a:ext cx="8412480" cy="585216"/>
          </a:xfrm>
          <a:prstGeom prst="rect">
            <a:avLst/>
          </a:prstGeom>
          <a:solidFill>
            <a:srgbClr val="FFF1F2"/>
          </a:solidFill>
          <a:ln w="6350">
            <a:solidFill>
              <a:srgbClr val="E2E8F0"/>
            </a:solidFill>
            <a:prstDash val="solid"/>
          </a:ln>
        </p:spPr>
      </p:sp>
      <p:sp>
        <p:nvSpPr>
          <p:cNvPr id="29" name="Shape 26"/>
          <p:cNvSpPr/>
          <p:nvPr/>
        </p:nvSpPr>
        <p:spPr>
          <a:xfrm>
            <a:off x="365760" y="3986784"/>
            <a:ext cx="50292" cy="585216"/>
          </a:xfrm>
          <a:prstGeom prst="rect">
            <a:avLst/>
          </a:prstGeom>
          <a:solidFill>
            <a:srgbClr val="4A90D9"/>
          </a:solidFill>
          <a:ln w="12700">
            <a:solidFill>
              <a:srgbClr val="4A90D9"/>
            </a:solidFill>
            <a:prstDash val="solid"/>
          </a:ln>
        </p:spPr>
      </p:sp>
      <p:sp>
        <p:nvSpPr>
          <p:cNvPr id="30" name="Text 27"/>
          <p:cNvSpPr/>
          <p:nvPr/>
        </p:nvSpPr>
        <p:spPr>
          <a:xfrm>
            <a:off x="475488" y="3986784"/>
            <a:ext cx="8266176" cy="585216"/>
          </a:xfrm>
          <a:prstGeom prst="rect">
            <a:avLst/>
          </a:prstGeom>
          <a:noFill/>
          <a:ln/>
        </p:spPr>
        <p:txBody>
          <a:bodyPr wrap="square" lIns="0" tIns="0" rIns="0" bIns="0" rtlCol="0" anchor="ctr"/>
          <a:lstStyle/>
          <a:p>
            <a:pPr marL="0" indent="0" algn="l">
              <a:buNone/>
            </a:pPr>
            <a:r>
              <a:rPr lang="en-US" sz="950" dirty="0">
                <a:solidFill>
                  <a:srgbClr val="1E293B"/>
                </a:solidFill>
              </a:rPr>
              <a:t>IMPORTANT: Some customers spent £279,000+ and ordered 200+ times. These 'whales' would distort clustering if not handled first — this is why VIP isolation is the first pre-processing step.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Pre-Processing &amp; Finding Optimal K</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Shape 7"/>
          <p:cNvSpPr/>
          <p:nvPr/>
        </p:nvSpPr>
        <p:spPr>
          <a:xfrm>
            <a:off x="365760" y="749808"/>
            <a:ext cx="2743200" cy="841248"/>
          </a:xfrm>
          <a:prstGeom prst="rect">
            <a:avLst/>
          </a:prstGeom>
          <a:solidFill>
            <a:srgbClr val="6C3483"/>
          </a:solidFill>
          <a:ln w="12700">
            <a:solidFill>
              <a:srgbClr val="6C3483"/>
            </a:solidFill>
            <a:prstDash val="solid"/>
          </a:ln>
          <a:effectLst>
            <a:outerShdw blurRad="63500" dist="25400" dir="8100000" algn="bl" rotWithShape="0">
              <a:srgbClr val="000000">
                <a:alpha val="12000"/>
              </a:srgbClr>
            </a:outerShdw>
          </a:effectLst>
        </p:spPr>
      </p:sp>
      <p:sp>
        <p:nvSpPr>
          <p:cNvPr id="10" name="Text 8"/>
          <p:cNvSpPr/>
          <p:nvPr/>
        </p:nvSpPr>
        <p:spPr>
          <a:xfrm>
            <a:off x="475488" y="777240"/>
            <a:ext cx="2523744" cy="320040"/>
          </a:xfrm>
          <a:prstGeom prst="rect">
            <a:avLst/>
          </a:prstGeom>
          <a:noFill/>
          <a:ln/>
        </p:spPr>
        <p:txBody>
          <a:bodyPr wrap="square" lIns="0" tIns="0" rIns="0" bIns="0" rtlCol="0" anchor="ctr"/>
          <a:lstStyle/>
          <a:p>
            <a:pPr marL="0" indent="0">
              <a:buNone/>
            </a:pPr>
            <a:r>
              <a:rPr lang="en-US" sz="1050" b="1" dirty="0">
                <a:solidFill>
                  <a:srgbClr val="FFFFFF"/>
                </a:solidFill>
              </a:rPr>
              <a:t>Step 1: VIP Isolation</a:t>
            </a:r>
            <a:endParaRPr lang="en-US" sz="1050" dirty="0"/>
          </a:p>
        </p:txBody>
      </p:sp>
      <p:sp>
        <p:nvSpPr>
          <p:cNvPr id="11" name="Text 9"/>
          <p:cNvSpPr/>
          <p:nvPr/>
        </p:nvSpPr>
        <p:spPr>
          <a:xfrm>
            <a:off x="475488" y="1097280"/>
            <a:ext cx="2523744" cy="420624"/>
          </a:xfrm>
          <a:prstGeom prst="rect">
            <a:avLst/>
          </a:prstGeom>
          <a:noFill/>
          <a:ln/>
        </p:spPr>
        <p:txBody>
          <a:bodyPr wrap="square" lIns="0" tIns="0" rIns="0" bIns="0" rtlCol="0" anchor="ctr"/>
          <a:lstStyle/>
          <a:p>
            <a:pPr marL="0" indent="0">
              <a:buNone/>
            </a:pPr>
            <a:r>
              <a:rPr lang="en-US" sz="850" dirty="0">
                <a:solidFill>
                  <a:srgbClr val="D4E8FF"/>
                </a:solidFill>
              </a:rPr>
              <a:t>99th %ile ≥ £18,714 → manually labelled, removed from K-Means pool</a:t>
            </a:r>
            <a:endParaRPr lang="en-US" sz="850" dirty="0"/>
          </a:p>
        </p:txBody>
      </p:sp>
      <p:sp>
        <p:nvSpPr>
          <p:cNvPr id="12" name="Text 10"/>
          <p:cNvSpPr/>
          <p:nvPr/>
        </p:nvSpPr>
        <p:spPr>
          <a:xfrm>
            <a:off x="3127248" y="749808"/>
            <a:ext cx="164592" cy="841248"/>
          </a:xfrm>
          <a:prstGeom prst="rect">
            <a:avLst/>
          </a:prstGeom>
          <a:noFill/>
          <a:ln/>
        </p:spPr>
        <p:txBody>
          <a:bodyPr wrap="square" lIns="0" tIns="0" rIns="0" bIns="0" rtlCol="0" anchor="ctr"/>
          <a:lstStyle/>
          <a:p>
            <a:pPr marL="0" indent="0" algn="ctr">
              <a:buNone/>
            </a:pPr>
            <a:r>
              <a:rPr lang="en-US" sz="1800" dirty="0">
                <a:solidFill>
                  <a:srgbClr val="94A3B8"/>
                </a:solidFill>
              </a:rPr>
              <a:t>→</a:t>
            </a:r>
            <a:endParaRPr lang="en-US" sz="1800" dirty="0"/>
          </a:p>
        </p:txBody>
      </p:sp>
      <p:sp>
        <p:nvSpPr>
          <p:cNvPr id="13" name="Shape 11"/>
          <p:cNvSpPr/>
          <p:nvPr/>
        </p:nvSpPr>
        <p:spPr>
          <a:xfrm>
            <a:off x="3291840" y="749808"/>
            <a:ext cx="2743200" cy="841248"/>
          </a:xfrm>
          <a:prstGeom prst="rect">
            <a:avLst/>
          </a:prstGeom>
          <a:solidFill>
            <a:srgbClr val="2E5FA3"/>
          </a:solidFill>
          <a:ln w="12700">
            <a:solidFill>
              <a:srgbClr val="2E5FA3"/>
            </a:solidFill>
            <a:prstDash val="solid"/>
          </a:ln>
          <a:effectLst>
            <a:outerShdw blurRad="63500" dist="25400" dir="8100000" algn="bl" rotWithShape="0">
              <a:srgbClr val="000000">
                <a:alpha val="12000"/>
              </a:srgbClr>
            </a:outerShdw>
          </a:effectLst>
        </p:spPr>
      </p:sp>
      <p:sp>
        <p:nvSpPr>
          <p:cNvPr id="14" name="Text 12"/>
          <p:cNvSpPr/>
          <p:nvPr/>
        </p:nvSpPr>
        <p:spPr>
          <a:xfrm>
            <a:off x="3401568" y="777240"/>
            <a:ext cx="2523744" cy="320040"/>
          </a:xfrm>
          <a:prstGeom prst="rect">
            <a:avLst/>
          </a:prstGeom>
          <a:noFill/>
          <a:ln/>
        </p:spPr>
        <p:txBody>
          <a:bodyPr wrap="square" lIns="0" tIns="0" rIns="0" bIns="0" rtlCol="0" anchor="ctr"/>
          <a:lstStyle/>
          <a:p>
            <a:pPr marL="0" indent="0">
              <a:buNone/>
            </a:pPr>
            <a:r>
              <a:rPr lang="en-US" sz="1050" b="1" dirty="0">
                <a:solidFill>
                  <a:srgbClr val="FFFFFF"/>
                </a:solidFill>
              </a:rPr>
              <a:t>Step 2: Log Transform</a:t>
            </a:r>
            <a:endParaRPr lang="en-US" sz="1050" dirty="0"/>
          </a:p>
        </p:txBody>
      </p:sp>
      <p:sp>
        <p:nvSpPr>
          <p:cNvPr id="15" name="Text 13"/>
          <p:cNvSpPr/>
          <p:nvPr/>
        </p:nvSpPr>
        <p:spPr>
          <a:xfrm>
            <a:off x="3401568" y="1097280"/>
            <a:ext cx="2523744" cy="420624"/>
          </a:xfrm>
          <a:prstGeom prst="rect">
            <a:avLst/>
          </a:prstGeom>
          <a:noFill/>
          <a:ln/>
        </p:spPr>
        <p:txBody>
          <a:bodyPr wrap="square" lIns="0" tIns="0" rIns="0" bIns="0" rtlCol="0" anchor="ctr"/>
          <a:lstStyle/>
          <a:p>
            <a:pPr marL="0" indent="0">
              <a:buNone/>
            </a:pPr>
            <a:r>
              <a:rPr lang="en-US" sz="850" dirty="0">
                <a:solidFill>
                  <a:srgbClr val="D4E8FF"/>
                </a:solidFill>
              </a:rPr>
              <a:t>log(x+1) applied to R, F, M → compresses skewness</a:t>
            </a:r>
            <a:endParaRPr lang="en-US" sz="850" dirty="0"/>
          </a:p>
        </p:txBody>
      </p:sp>
      <p:sp>
        <p:nvSpPr>
          <p:cNvPr id="16" name="Text 14"/>
          <p:cNvSpPr/>
          <p:nvPr/>
        </p:nvSpPr>
        <p:spPr>
          <a:xfrm>
            <a:off x="6053328" y="749808"/>
            <a:ext cx="164592" cy="841248"/>
          </a:xfrm>
          <a:prstGeom prst="rect">
            <a:avLst/>
          </a:prstGeom>
          <a:noFill/>
          <a:ln/>
        </p:spPr>
        <p:txBody>
          <a:bodyPr wrap="square" lIns="0" tIns="0" rIns="0" bIns="0" rtlCol="0" anchor="ctr"/>
          <a:lstStyle/>
          <a:p>
            <a:pPr marL="0" indent="0" algn="ctr">
              <a:buNone/>
            </a:pPr>
            <a:r>
              <a:rPr lang="en-US" sz="1800" dirty="0">
                <a:solidFill>
                  <a:srgbClr val="94A3B8"/>
                </a:solidFill>
              </a:rPr>
              <a:t>→</a:t>
            </a:r>
            <a:endParaRPr lang="en-US" sz="1800" dirty="0"/>
          </a:p>
        </p:txBody>
      </p:sp>
      <p:sp>
        <p:nvSpPr>
          <p:cNvPr id="17" name="Shape 15"/>
          <p:cNvSpPr/>
          <p:nvPr/>
        </p:nvSpPr>
        <p:spPr>
          <a:xfrm>
            <a:off x="6217920" y="749808"/>
            <a:ext cx="2743200" cy="841248"/>
          </a:xfrm>
          <a:prstGeom prst="rect">
            <a:avLst/>
          </a:prstGeom>
          <a:solidFill>
            <a:srgbClr val="145A32"/>
          </a:solidFill>
          <a:ln w="12700">
            <a:solidFill>
              <a:srgbClr val="145A32"/>
            </a:solidFill>
            <a:prstDash val="solid"/>
          </a:ln>
          <a:effectLst>
            <a:outerShdw blurRad="63500" dist="25400" dir="8100000" algn="bl" rotWithShape="0">
              <a:srgbClr val="000000">
                <a:alpha val="12000"/>
              </a:srgbClr>
            </a:outerShdw>
          </a:effectLst>
        </p:spPr>
      </p:sp>
      <p:sp>
        <p:nvSpPr>
          <p:cNvPr id="18" name="Text 16"/>
          <p:cNvSpPr/>
          <p:nvPr/>
        </p:nvSpPr>
        <p:spPr>
          <a:xfrm>
            <a:off x="6327648" y="777240"/>
            <a:ext cx="2523744" cy="320040"/>
          </a:xfrm>
          <a:prstGeom prst="rect">
            <a:avLst/>
          </a:prstGeom>
          <a:noFill/>
          <a:ln/>
        </p:spPr>
        <p:txBody>
          <a:bodyPr wrap="square" lIns="0" tIns="0" rIns="0" bIns="0" rtlCol="0" anchor="ctr"/>
          <a:lstStyle/>
          <a:p>
            <a:pPr marL="0" indent="0">
              <a:buNone/>
            </a:pPr>
            <a:r>
              <a:rPr lang="en-US" sz="1050" b="1" dirty="0">
                <a:solidFill>
                  <a:srgbClr val="FFFFFF"/>
                </a:solidFill>
              </a:rPr>
              <a:t>Step 3: Standard Scaling</a:t>
            </a:r>
            <a:endParaRPr lang="en-US" sz="1050" dirty="0"/>
          </a:p>
        </p:txBody>
      </p:sp>
      <p:sp>
        <p:nvSpPr>
          <p:cNvPr id="19" name="Text 17"/>
          <p:cNvSpPr/>
          <p:nvPr/>
        </p:nvSpPr>
        <p:spPr>
          <a:xfrm>
            <a:off x="6327648" y="1097280"/>
            <a:ext cx="2523744" cy="420624"/>
          </a:xfrm>
          <a:prstGeom prst="rect">
            <a:avLst/>
          </a:prstGeom>
          <a:noFill/>
          <a:ln/>
        </p:spPr>
        <p:txBody>
          <a:bodyPr wrap="square" lIns="0" tIns="0" rIns="0" bIns="0" rtlCol="0" anchor="ctr"/>
          <a:lstStyle/>
          <a:p>
            <a:pPr marL="0" indent="0">
              <a:buNone/>
            </a:pPr>
            <a:r>
              <a:rPr lang="en-US" sz="850" dirty="0">
                <a:solidFill>
                  <a:srgbClr val="D4E8FF"/>
                </a:solidFill>
              </a:rPr>
              <a:t>Z-score → mean=0, std=1 across all features (equal weight)</a:t>
            </a:r>
            <a:endParaRPr lang="en-US" sz="850" dirty="0"/>
          </a:p>
        </p:txBody>
      </p:sp>
      <p:pic>
        <p:nvPicPr>
          <p:cNvPr id="20" name="Image 0" descr="/mnt/user-data/uploads/1773072651661_image.png"/>
          <p:cNvPicPr>
            <a:picLocks noChangeAspect="1"/>
          </p:cNvPicPr>
          <p:nvPr/>
        </p:nvPicPr>
        <p:blipFill>
          <a:blip r:embed="rId3"/>
          <a:srcRect/>
          <a:stretch/>
        </p:blipFill>
        <p:spPr>
          <a:xfrm>
            <a:off x="365760" y="1700784"/>
            <a:ext cx="8412480" cy="2468880"/>
          </a:xfrm>
          <a:prstGeom prst="rect">
            <a:avLst/>
          </a:prstGeom>
        </p:spPr>
      </p:pic>
      <p:sp>
        <p:nvSpPr>
          <p:cNvPr id="21" name="Shape 18"/>
          <p:cNvSpPr/>
          <p:nvPr/>
        </p:nvSpPr>
        <p:spPr>
          <a:xfrm>
            <a:off x="365760" y="4279392"/>
            <a:ext cx="8412480" cy="420624"/>
          </a:xfrm>
          <a:prstGeom prst="rect">
            <a:avLst/>
          </a:prstGeom>
          <a:solidFill>
            <a:srgbClr val="1B2763"/>
          </a:solidFill>
          <a:ln w="12700">
            <a:solidFill>
              <a:srgbClr val="1B2763"/>
            </a:solidFill>
            <a:prstDash val="solid"/>
          </a:ln>
        </p:spPr>
      </p:sp>
      <p:sp>
        <p:nvSpPr>
          <p:cNvPr id="22" name="Text 19"/>
          <p:cNvSpPr/>
          <p:nvPr/>
        </p:nvSpPr>
        <p:spPr>
          <a:xfrm>
            <a:off x="502920" y="4279392"/>
            <a:ext cx="8229600" cy="420624"/>
          </a:xfrm>
          <a:prstGeom prst="rect">
            <a:avLst/>
          </a:prstGeom>
          <a:noFill/>
          <a:ln/>
        </p:spPr>
        <p:txBody>
          <a:bodyPr wrap="square" lIns="0" tIns="0" rIns="0" bIns="0" rtlCol="0" anchor="ctr"/>
          <a:lstStyle/>
          <a:p>
            <a:pPr marL="0" indent="0" algn="l">
              <a:buNone/>
            </a:pPr>
            <a:r>
              <a:rPr lang="en-US" sz="1000" b="1" dirty="0">
                <a:solidFill>
                  <a:srgbClr val="FFFFFF"/>
                </a:solidFill>
              </a:rPr>
              <a:t>VERDICT — Both Elbow Curve and Silhouette Score independently confirm K = 3. Using two methods eliminates human bias and gives statistical confidence in the choice.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Customer Segments</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graphicFrame>
        <p:nvGraphicFramePr>
          <p:cNvPr id="9" name="Chart 0"/>
          <p:cNvGraphicFramePr/>
          <p:nvPr/>
        </p:nvGraphicFramePr>
        <p:xfrm>
          <a:off x="274320" y="749808"/>
          <a:ext cx="384048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251960" y="713232"/>
          <a:ext cx="4572000" cy="3065374"/>
        </p:xfrm>
        <a:graphic>
          <a:graphicData uri="http://schemas.openxmlformats.org/drawingml/2006/table">
            <a:tbl>
              <a:tblPr/>
              <a:tblGrid>
                <a:gridCol w="1298448">
                  <a:extLst>
                    <a:ext uri="{9D8B030D-6E8A-4147-A177-3AD203B41FA5}">
                      <a16:colId xmlns:a16="http://schemas.microsoft.com/office/drawing/2014/main" val="20000"/>
                    </a:ext>
                  </a:extLst>
                </a:gridCol>
                <a:gridCol w="475488">
                  <a:extLst>
                    <a:ext uri="{9D8B030D-6E8A-4147-A177-3AD203B41FA5}">
                      <a16:colId xmlns:a16="http://schemas.microsoft.com/office/drawing/2014/main" val="20001"/>
                    </a:ext>
                  </a:extLst>
                </a:gridCol>
                <a:gridCol w="621792">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13232">
                  <a:extLst>
                    <a:ext uri="{9D8B030D-6E8A-4147-A177-3AD203B41FA5}">
                      <a16:colId xmlns:a16="http://schemas.microsoft.com/office/drawing/2014/main" val="20005"/>
                    </a:ext>
                  </a:extLst>
                </a:gridCol>
              </a:tblGrid>
              <a:tr h="497434">
                <a:tc>
                  <a:txBody>
                    <a:bodyPr/>
                    <a:lstStyle/>
                    <a:p>
                      <a:pPr marL="0" indent="0">
                        <a:buNone/>
                      </a:pPr>
                      <a:r>
                        <a:rPr lang="en-US" sz="850" b="1" dirty="0">
                          <a:solidFill>
                            <a:srgbClr val="FFFFFF"/>
                          </a:solidFill>
                        </a:rPr>
                        <a:t>Segment</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850" b="1" dirty="0">
                          <a:solidFill>
                            <a:srgbClr val="FFFFFF"/>
                          </a:solidFill>
                        </a:rPr>
                        <a:t>Share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850" b="1" dirty="0">
                          <a:solidFill>
                            <a:srgbClr val="FFFFFF"/>
                          </a:solidFill>
                        </a:rPr>
                        <a:t>Recency</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850" b="1" dirty="0">
                          <a:solidFill>
                            <a:srgbClr val="FFFFFF"/>
                          </a:solidFill>
                        </a:rPr>
                        <a:t>Frequency</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850" b="1" dirty="0">
                          <a:solidFill>
                            <a:srgbClr val="FFFFFF"/>
                          </a:solidFill>
                        </a:rPr>
                        <a:t>Monetary</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850" b="1" dirty="0">
                          <a:solidFill>
                            <a:srgbClr val="FFFFFF"/>
                          </a:solidFill>
                        </a:rPr>
                        <a:t>Action</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extLst>
                  <a:ext uri="{0D108BD9-81ED-4DB2-BD59-A6C34878D82A}">
                    <a16:rowId xmlns:a16="http://schemas.microsoft.com/office/drawing/2014/main" val="10000"/>
                  </a:ext>
                </a:extLst>
              </a:tr>
              <a:tr h="497434">
                <a:tc>
                  <a:txBody>
                    <a:bodyPr/>
                    <a:lstStyle/>
                    <a:p>
                      <a:pPr marL="0" indent="0">
                        <a:buNone/>
                      </a:pPr>
                      <a:r>
                        <a:rPr lang="en-US" sz="850" b="1" dirty="0">
                          <a:solidFill>
                            <a:srgbClr val="FFFFFF"/>
                          </a:solidFill>
                        </a:rPr>
                        <a:t>VIP Segment</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A855F7"/>
                    </a:solidFill>
                  </a:tcPr>
                </a:tc>
                <a:tc>
                  <a:txBody>
                    <a:bodyPr/>
                    <a:lstStyle/>
                    <a:p>
                      <a:pPr marL="0" indent="0">
                        <a:buNone/>
                      </a:pPr>
                      <a:r>
                        <a:rPr lang="en-US" sz="850" dirty="0">
                          <a:solidFill>
                            <a:srgbClr val="1E293B"/>
                          </a:solidFill>
                        </a:rPr>
                        <a:t>9.9%</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Low</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Very High</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 £18,714</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Exclusive rewards &amp; account managers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97434">
                <a:tc>
                  <a:txBody>
                    <a:bodyPr/>
                    <a:lstStyle/>
                    <a:p>
                      <a:pPr marL="0" indent="0">
                        <a:buNone/>
                      </a:pPr>
                      <a:r>
                        <a:rPr lang="en-US" sz="850" b="1" dirty="0">
                          <a:solidFill>
                            <a:srgbClr val="FFFFFF"/>
                          </a:solidFill>
                        </a:rPr>
                        <a:t>Loyal Regulars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0B981"/>
                    </a:solidFill>
                  </a:tcPr>
                </a:tc>
                <a:tc>
                  <a:txBody>
                    <a:bodyPr/>
                    <a:lstStyle/>
                    <a:p>
                      <a:pPr marL="0" indent="0">
                        <a:buNone/>
                      </a:pPr>
                      <a:r>
                        <a:rPr lang="en-US" sz="850" dirty="0">
                          <a:solidFill>
                            <a:srgbClr val="1E293B"/>
                          </a:solidFill>
                        </a:rPr>
                        <a:t>31.5%</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Low</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High</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Moderate</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Loyalty programme &amp; referral bonuses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7434">
                <a:tc>
                  <a:txBody>
                    <a:bodyPr/>
                    <a:lstStyle/>
                    <a:p>
                      <a:pPr marL="0" indent="0">
                        <a:buNone/>
                      </a:pPr>
                      <a:r>
                        <a:rPr lang="en-US" sz="850" b="1" dirty="0">
                          <a:solidFill>
                            <a:srgbClr val="FFFFFF"/>
                          </a:solidFill>
                        </a:rPr>
                        <a:t>Casual Buyers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9E0B"/>
                    </a:solidFill>
                  </a:tcPr>
                </a:tc>
                <a:tc>
                  <a:txBody>
                    <a:bodyPr/>
                    <a:lstStyle/>
                    <a:p>
                      <a:pPr marL="0" indent="0">
                        <a:buNone/>
                      </a:pPr>
                      <a:r>
                        <a:rPr lang="en-US" sz="850" dirty="0">
                          <a:solidFill>
                            <a:srgbClr val="1E293B"/>
                          </a:solidFill>
                        </a:rPr>
                        <a:t>20.3%</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Medium</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Low</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Low</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rPr>
                        <a:t>Personalised recs &amp; upsell campaigns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97434">
                <a:tc>
                  <a:txBody>
                    <a:bodyPr/>
                    <a:lstStyle/>
                    <a:p>
                      <a:pPr marL="0" indent="0">
                        <a:buNone/>
                      </a:pPr>
                      <a:r>
                        <a:rPr lang="en-US" sz="850" b="1" dirty="0">
                          <a:solidFill>
                            <a:srgbClr val="FFFFFF"/>
                          </a:solidFill>
                        </a:rPr>
                        <a:t>At-Risk / Churning</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4444"/>
                    </a:solidFill>
                  </a:tcPr>
                </a:tc>
                <a:tc>
                  <a:txBody>
                    <a:bodyPr/>
                    <a:lstStyle/>
                    <a:p>
                      <a:pPr marL="0" indent="0">
                        <a:buNone/>
                      </a:pPr>
                      <a:r>
                        <a:rPr lang="en-US" sz="850" dirty="0">
                          <a:solidFill>
                            <a:srgbClr val="1E293B"/>
                          </a:solidFill>
                        </a:rPr>
                        <a:t>38.2%</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High</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Declining</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Low</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rPr>
                        <a:t>Win-back emails &amp; time-limited offers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Shape 7"/>
          <p:cNvSpPr/>
          <p:nvPr/>
        </p:nvSpPr>
        <p:spPr>
          <a:xfrm>
            <a:off x="4251960" y="3291840"/>
            <a:ext cx="2176272" cy="457200"/>
          </a:xfrm>
          <a:prstGeom prst="rect">
            <a:avLst/>
          </a:prstGeom>
          <a:solidFill>
            <a:srgbClr val="FFF1F2"/>
          </a:solidFill>
          <a:ln w="6350">
            <a:solidFill>
              <a:srgbClr val="E2E8F0"/>
            </a:solidFill>
            <a:prstDash val="solid"/>
          </a:ln>
        </p:spPr>
      </p:sp>
      <p:sp>
        <p:nvSpPr>
          <p:cNvPr id="12" name="Shape 8"/>
          <p:cNvSpPr/>
          <p:nvPr/>
        </p:nvSpPr>
        <p:spPr>
          <a:xfrm>
            <a:off x="4251960" y="3291840"/>
            <a:ext cx="50292" cy="457200"/>
          </a:xfrm>
          <a:prstGeom prst="rect">
            <a:avLst/>
          </a:prstGeom>
          <a:solidFill>
            <a:srgbClr val="4A90D9"/>
          </a:solidFill>
          <a:ln w="12700">
            <a:solidFill>
              <a:srgbClr val="4A90D9"/>
            </a:solidFill>
            <a:prstDash val="solid"/>
          </a:ln>
        </p:spPr>
      </p:sp>
      <p:sp>
        <p:nvSpPr>
          <p:cNvPr id="13" name="Text 9"/>
          <p:cNvSpPr/>
          <p:nvPr/>
        </p:nvSpPr>
        <p:spPr>
          <a:xfrm>
            <a:off x="4361688" y="3291840"/>
            <a:ext cx="2029968" cy="457200"/>
          </a:xfrm>
          <a:prstGeom prst="rect">
            <a:avLst/>
          </a:prstGeom>
          <a:noFill/>
          <a:ln/>
        </p:spPr>
        <p:txBody>
          <a:bodyPr wrap="square" lIns="0" tIns="0" rIns="0" bIns="0" rtlCol="0" anchor="ctr"/>
          <a:lstStyle/>
          <a:p>
            <a:pPr marL="0" indent="0" algn="l">
              <a:buNone/>
            </a:pPr>
            <a:r>
              <a:rPr lang="en-US" sz="950" dirty="0">
                <a:solidFill>
                  <a:srgbClr val="1E293B"/>
                </a:solidFill>
              </a:rPr>
              <a:t>38.2% at risk — nearly 4 in 10 customers may never return without intervention.</a:t>
            </a:r>
            <a:endParaRPr lang="en-US" sz="950" dirty="0"/>
          </a:p>
        </p:txBody>
      </p:sp>
      <p:sp>
        <p:nvSpPr>
          <p:cNvPr id="14" name="Shape 10"/>
          <p:cNvSpPr/>
          <p:nvPr/>
        </p:nvSpPr>
        <p:spPr>
          <a:xfrm>
            <a:off x="6565392" y="3291840"/>
            <a:ext cx="2258568" cy="457200"/>
          </a:xfrm>
          <a:prstGeom prst="rect">
            <a:avLst/>
          </a:prstGeom>
          <a:solidFill>
            <a:srgbClr val="FAF5FF"/>
          </a:solidFill>
          <a:ln w="6350">
            <a:solidFill>
              <a:srgbClr val="E2E8F0"/>
            </a:solidFill>
            <a:prstDash val="solid"/>
          </a:ln>
        </p:spPr>
      </p:sp>
      <p:sp>
        <p:nvSpPr>
          <p:cNvPr id="15" name="Shape 11"/>
          <p:cNvSpPr/>
          <p:nvPr/>
        </p:nvSpPr>
        <p:spPr>
          <a:xfrm>
            <a:off x="6565392" y="3291840"/>
            <a:ext cx="50292" cy="457200"/>
          </a:xfrm>
          <a:prstGeom prst="rect">
            <a:avLst/>
          </a:prstGeom>
          <a:solidFill>
            <a:srgbClr val="4A90D9"/>
          </a:solidFill>
          <a:ln w="12700">
            <a:solidFill>
              <a:srgbClr val="4A90D9"/>
            </a:solidFill>
            <a:prstDash val="solid"/>
          </a:ln>
        </p:spPr>
      </p:sp>
      <p:sp>
        <p:nvSpPr>
          <p:cNvPr id="16" name="Text 12"/>
          <p:cNvSpPr/>
          <p:nvPr/>
        </p:nvSpPr>
        <p:spPr>
          <a:xfrm>
            <a:off x="6675120" y="3291840"/>
            <a:ext cx="2112264" cy="457200"/>
          </a:xfrm>
          <a:prstGeom prst="rect">
            <a:avLst/>
          </a:prstGeom>
          <a:noFill/>
          <a:ln/>
        </p:spPr>
        <p:txBody>
          <a:bodyPr wrap="square" lIns="0" tIns="0" rIns="0" bIns="0" rtlCol="0" anchor="ctr"/>
          <a:lstStyle/>
          <a:p>
            <a:pPr marL="0" indent="0" algn="l">
              <a:buNone/>
            </a:pPr>
            <a:r>
              <a:rPr lang="en-US" sz="950" dirty="0">
                <a:solidFill>
                  <a:srgbClr val="1E293B"/>
                </a:solidFill>
              </a:rPr>
              <a:t>VIPs are only 9.9% but generate outsized revenue — protect them above all.</a:t>
            </a:r>
            <a:endParaRPr lang="en-US" sz="950" dirty="0"/>
          </a:p>
        </p:txBody>
      </p:sp>
      <p:sp>
        <p:nvSpPr>
          <p:cNvPr id="17" name="Shape 13"/>
          <p:cNvSpPr/>
          <p:nvPr/>
        </p:nvSpPr>
        <p:spPr>
          <a:xfrm>
            <a:off x="4251960" y="3840480"/>
            <a:ext cx="4553712" cy="420624"/>
          </a:xfrm>
          <a:prstGeom prst="rect">
            <a:avLst/>
          </a:prstGeom>
          <a:solidFill>
            <a:srgbClr val="F0FFF4"/>
          </a:solidFill>
          <a:ln w="6350">
            <a:solidFill>
              <a:srgbClr val="E2E8F0"/>
            </a:solidFill>
            <a:prstDash val="solid"/>
          </a:ln>
        </p:spPr>
      </p:sp>
      <p:sp>
        <p:nvSpPr>
          <p:cNvPr id="18" name="Shape 14"/>
          <p:cNvSpPr/>
          <p:nvPr/>
        </p:nvSpPr>
        <p:spPr>
          <a:xfrm>
            <a:off x="4251960" y="3840480"/>
            <a:ext cx="50292" cy="420624"/>
          </a:xfrm>
          <a:prstGeom prst="rect">
            <a:avLst/>
          </a:prstGeom>
          <a:solidFill>
            <a:srgbClr val="4A90D9"/>
          </a:solidFill>
          <a:ln w="12700">
            <a:solidFill>
              <a:srgbClr val="4A90D9"/>
            </a:solidFill>
            <a:prstDash val="solid"/>
          </a:ln>
        </p:spPr>
      </p:sp>
      <p:sp>
        <p:nvSpPr>
          <p:cNvPr id="19" name="Text 15"/>
          <p:cNvSpPr/>
          <p:nvPr/>
        </p:nvSpPr>
        <p:spPr>
          <a:xfrm>
            <a:off x="4361688" y="3840480"/>
            <a:ext cx="4407408" cy="420624"/>
          </a:xfrm>
          <a:prstGeom prst="rect">
            <a:avLst/>
          </a:prstGeom>
          <a:noFill/>
          <a:ln/>
        </p:spPr>
        <p:txBody>
          <a:bodyPr wrap="square" lIns="0" tIns="0" rIns="0" bIns="0" rtlCol="0" anchor="ctr"/>
          <a:lstStyle/>
          <a:p>
            <a:pPr marL="0" indent="0" algn="l">
              <a:buNone/>
            </a:pPr>
            <a:r>
              <a:rPr lang="en-US" sz="950" dirty="0">
                <a:solidFill>
                  <a:srgbClr val="1E293B"/>
                </a:solidFill>
              </a:rPr>
              <a:t>The 4-tier model enables targeted action: VIP concierge · loyalty rewards · upsell flows · win-back campaigns.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Classification Results — Champion Model: Random Forest</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749808"/>
          <a:ext cx="4434840" cy="3072384"/>
        </p:xfrm>
        <a:graphic>
          <a:graphicData uri="http://schemas.openxmlformats.org/drawingml/2006/table">
            <a:tbl>
              <a:tblPr/>
              <a:tblGrid>
                <a:gridCol w="1874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84048">
                <a:tc>
                  <a:txBody>
                    <a:bodyPr/>
                    <a:lstStyle/>
                    <a:p>
                      <a:pPr marL="0" indent="0">
                        <a:buNone/>
                      </a:pPr>
                      <a:r>
                        <a:rPr lang="en-US" sz="950" b="1" dirty="0">
                          <a:solidFill>
                            <a:srgbClr val="FFFFFF"/>
                          </a:solidFill>
                        </a:rPr>
                        <a:t>Model</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950" b="1" dirty="0">
                          <a:solidFill>
                            <a:srgbClr val="FFFFFF"/>
                          </a:solidFill>
                        </a:rPr>
                        <a:t>Train Acc</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950" b="1" dirty="0">
                          <a:solidFill>
                            <a:srgbClr val="FFFFFF"/>
                          </a:solidFill>
                        </a:rPr>
                        <a:t>Test Acc</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tc>
                  <a:txBody>
                    <a:bodyPr/>
                    <a:lstStyle/>
                    <a:p>
                      <a:pPr marL="0" indent="0">
                        <a:buNone/>
                      </a:pPr>
                      <a:r>
                        <a:rPr lang="en-US" sz="950" b="1" dirty="0">
                          <a:solidFill>
                            <a:srgbClr val="FFFFFF"/>
                          </a:solidFill>
                        </a:rPr>
                        <a:t>Overfit Gap</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763"/>
                    </a:solidFill>
                  </a:tcPr>
                </a:tc>
                <a:extLst>
                  <a:ext uri="{0D108BD9-81ED-4DB2-BD59-A6C34878D82A}">
                    <a16:rowId xmlns:a16="http://schemas.microsoft.com/office/drawing/2014/main" val="10000"/>
                  </a:ext>
                </a:extLst>
              </a:tr>
              <a:tr h="384048">
                <a:tc>
                  <a:txBody>
                    <a:bodyPr/>
                    <a:lstStyle/>
                    <a:p>
                      <a:pPr marL="0" indent="0" algn="l">
                        <a:buNone/>
                      </a:pPr>
                      <a:r>
                        <a:rPr lang="en-US" sz="950" b="1" dirty="0">
                          <a:solidFill>
                            <a:srgbClr val="1B2763"/>
                          </a:solidFill>
                        </a:rPr>
                        <a:t>Random Forest  ✓</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1B2763"/>
                          </a:solidFill>
                        </a:rPr>
                        <a:t>100.00%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1B2763"/>
                          </a:solidFill>
                        </a:rPr>
                        <a:t>99.65%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1B2763"/>
                          </a:solidFill>
                        </a:rPr>
                        <a:t>0.35%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384048">
                <a:tc>
                  <a:txBody>
                    <a:bodyPr/>
                    <a:lstStyle/>
                    <a:p>
                      <a:pPr marL="0" indent="0" algn="l">
                        <a:buNone/>
                      </a:pPr>
                      <a:r>
                        <a:rPr lang="en-US" sz="950" dirty="0">
                          <a:solidFill>
                            <a:srgbClr val="1E293B"/>
                          </a:solidFill>
                        </a:rPr>
                        <a:t>Decision Tree</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100.00%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99.65%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0.35%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950" dirty="0">
                          <a:solidFill>
                            <a:srgbClr val="1E293B"/>
                          </a:solidFill>
                        </a:rPr>
                        <a:t>KNN</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99.60%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99.54%</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0.06%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l">
                        <a:buNone/>
                      </a:pPr>
                      <a:r>
                        <a:rPr lang="en-US" sz="950" dirty="0">
                          <a:solidFill>
                            <a:srgbClr val="1E293B"/>
                          </a:solidFill>
                        </a:rPr>
                        <a:t>LightGBM</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99.88%</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99.42%</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0.46%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950" dirty="0">
                          <a:solidFill>
                            <a:srgbClr val="1E293B"/>
                          </a:solidFill>
                        </a:rPr>
                        <a:t>SVM</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99.65%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99.19%</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0.46%</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84048">
                <a:tc>
                  <a:txBody>
                    <a:bodyPr/>
                    <a:lstStyle/>
                    <a:p>
                      <a:pPr marL="0" indent="0" algn="l">
                        <a:buNone/>
                      </a:pPr>
                      <a:r>
                        <a:rPr lang="en-US" sz="950" dirty="0">
                          <a:solidFill>
                            <a:srgbClr val="1E293B"/>
                          </a:solidFill>
                        </a:rPr>
                        <a:t>Logistic Reg.</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99.25%</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99.08%</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93B"/>
                          </a:solidFill>
                        </a:rPr>
                        <a:t>0.17%</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950" dirty="0">
                          <a:solidFill>
                            <a:srgbClr val="1E293B"/>
                          </a:solidFill>
                        </a:rPr>
                        <a:t>Naive Bayes</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93.60%</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92.73%</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1E293B"/>
                          </a:solidFill>
                        </a:rPr>
                        <a:t>0.87%</a:t>
                      </a:r>
                      <a:endParaRPr lang="en-US" sz="9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bl>
          </a:graphicData>
        </a:graphic>
      </p:graphicFrame>
      <p:sp>
        <p:nvSpPr>
          <p:cNvPr id="10" name="Shape 7"/>
          <p:cNvSpPr/>
          <p:nvPr/>
        </p:nvSpPr>
        <p:spPr>
          <a:xfrm>
            <a:off x="320040" y="3913632"/>
            <a:ext cx="8485632" cy="402336"/>
          </a:xfrm>
          <a:prstGeom prst="rect">
            <a:avLst/>
          </a:prstGeom>
          <a:solidFill>
            <a:srgbClr val="EFF6FF"/>
          </a:solidFill>
          <a:ln w="10160">
            <a:solidFill>
              <a:srgbClr val="2E5FA3"/>
            </a:solidFill>
            <a:prstDash val="solid"/>
          </a:ln>
        </p:spPr>
      </p:sp>
      <p:sp>
        <p:nvSpPr>
          <p:cNvPr id="9" name="Shape 8"/>
          <p:cNvSpPr/>
          <p:nvPr/>
        </p:nvSpPr>
        <p:spPr>
          <a:xfrm>
            <a:off x="320040" y="3913632"/>
            <a:ext cx="54864" cy="402336"/>
          </a:xfrm>
          <a:prstGeom prst="rect">
            <a:avLst/>
          </a:prstGeom>
          <a:solidFill>
            <a:srgbClr val="2E5FA3"/>
          </a:solidFill>
          <a:ln w="12700">
            <a:solidFill>
              <a:srgbClr val="2E5FA3"/>
            </a:solidFill>
            <a:prstDash val="solid"/>
          </a:ln>
        </p:spPr>
      </p:sp>
      <p:sp>
        <p:nvSpPr>
          <p:cNvPr id="12" name="Text 9"/>
          <p:cNvSpPr/>
          <p:nvPr/>
        </p:nvSpPr>
        <p:spPr>
          <a:xfrm>
            <a:off x="438912" y="3913632"/>
            <a:ext cx="8321040" cy="402336"/>
          </a:xfrm>
          <a:prstGeom prst="rect">
            <a:avLst/>
          </a:prstGeom>
          <a:noFill/>
          <a:ln/>
        </p:spPr>
        <p:txBody>
          <a:bodyPr wrap="square" lIns="0" tIns="0" rIns="0" bIns="0" rtlCol="0" anchor="ctr"/>
          <a:lstStyle/>
          <a:p>
            <a:pPr marL="0" indent="0" algn="ctr">
              <a:buNone/>
            </a:pPr>
            <a:r>
              <a:rPr lang="en-US" sz="1000" b="1" dirty="0">
                <a:solidFill>
                  <a:srgbClr val="1B2763"/>
                </a:solidFill>
              </a:rPr>
              <a:t>🏆  Champion: Random Forest — 99.65% Test Accuracy  |  Precision 0.97  |  F1-Score 0.98  |  Recall 1.00  (macro avg)</a:t>
            </a:r>
            <a:endParaRPr lang="en-US" sz="1000" dirty="0"/>
          </a:p>
        </p:txBody>
      </p:sp>
      <p:sp>
        <p:nvSpPr>
          <p:cNvPr id="13" name="Text 10"/>
          <p:cNvSpPr/>
          <p:nvPr/>
        </p:nvSpPr>
        <p:spPr>
          <a:xfrm>
            <a:off x="4919472" y="749808"/>
            <a:ext cx="3886200" cy="274320"/>
          </a:xfrm>
          <a:prstGeom prst="rect">
            <a:avLst/>
          </a:prstGeom>
          <a:noFill/>
          <a:ln/>
        </p:spPr>
        <p:txBody>
          <a:bodyPr wrap="square" lIns="0" tIns="0" rIns="0" bIns="0" rtlCol="0" anchor="ctr"/>
          <a:lstStyle/>
          <a:p>
            <a:pPr marL="0" indent="0" algn="ctr">
              <a:buNone/>
            </a:pPr>
            <a:r>
              <a:rPr lang="en-US" sz="1100" b="1" dirty="0">
                <a:solidFill>
                  <a:srgbClr val="1B2763"/>
                </a:solidFill>
              </a:rPr>
              <a:t>Confusion Matrix</a:t>
            </a:r>
            <a:endParaRPr lang="en-US" sz="1100" dirty="0"/>
          </a:p>
        </p:txBody>
      </p:sp>
      <p:pic>
        <p:nvPicPr>
          <p:cNvPr id="14" name="Image 0" descr="/mnt/user-data/uploads/1773072711078_image.png"/>
          <p:cNvPicPr>
            <a:picLocks noChangeAspect="1"/>
          </p:cNvPicPr>
          <p:nvPr/>
        </p:nvPicPr>
        <p:blipFill>
          <a:blip r:embed="rId3"/>
          <a:srcRect/>
          <a:stretch/>
        </p:blipFill>
        <p:spPr>
          <a:xfrm>
            <a:off x="4919472" y="1051560"/>
            <a:ext cx="3886200" cy="2761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763"/>
          </a:solidFill>
          <a:ln w="12700">
            <a:solidFill>
              <a:srgbClr val="1B2763"/>
            </a:solidFill>
            <a:prstDash val="solid"/>
          </a:ln>
        </p:spPr>
      </p:sp>
      <p:sp>
        <p:nvSpPr>
          <p:cNvPr id="3" name="Text 1"/>
          <p:cNvSpPr/>
          <p:nvPr/>
        </p:nvSpPr>
        <p:spPr>
          <a:xfrm>
            <a:off x="365760" y="164592"/>
            <a:ext cx="8412480" cy="457200"/>
          </a:xfrm>
          <a:prstGeom prst="rect">
            <a:avLst/>
          </a:prstGeom>
          <a:noFill/>
          <a:ln/>
        </p:spPr>
        <p:txBody>
          <a:bodyPr wrap="square" lIns="0" tIns="0" rIns="0" bIns="0" rtlCol="0" anchor="ctr"/>
          <a:lstStyle/>
          <a:p>
            <a:pPr marL="0" indent="0" algn="l">
              <a:buNone/>
            </a:pPr>
            <a:r>
              <a:rPr lang="en-US" sz="2500" b="1" dirty="0">
                <a:solidFill>
                  <a:srgbClr val="1B2763"/>
                </a:solidFill>
                <a:latin typeface="Calibri" pitchFamily="34" charset="0"/>
                <a:ea typeface="Calibri" pitchFamily="34" charset="-122"/>
                <a:cs typeface="Calibri" pitchFamily="34" charset="-120"/>
              </a:rPr>
              <a:t>Feature Importance — What Drives Segmentation?</a:t>
            </a:r>
            <a:endParaRPr lang="en-US" sz="2500" dirty="0"/>
          </a:p>
        </p:txBody>
      </p:sp>
      <p:sp>
        <p:nvSpPr>
          <p:cNvPr id="4" name="Text 2"/>
          <p:cNvSpPr/>
          <p:nvPr/>
        </p:nvSpPr>
        <p:spPr>
          <a:xfrm>
            <a:off x="164592" y="4882896"/>
            <a:ext cx="6675120" cy="182880"/>
          </a:xfrm>
          <a:prstGeom prst="rect">
            <a:avLst/>
          </a:prstGeom>
          <a:noFill/>
          <a:ln/>
        </p:spPr>
        <p:txBody>
          <a:bodyPr wrap="square" lIns="0" tIns="0" rIns="0" bIns="0" rtlCol="0" anchor="ctr"/>
          <a:lstStyle/>
          <a:p>
            <a:pPr marL="0" indent="0" algn="l">
              <a:buNone/>
            </a:pPr>
            <a:r>
              <a:rPr lang="en-US" sz="550" i="1" dirty="0">
                <a:solidFill>
                  <a:srgbClr val="94A3B8"/>
                </a:solidFill>
              </a:rPr>
              <a:t>CONFIDENTIAL: The information in this document belongs to Boston Institute of Analytics LLC. Any unauthorized sharing of this material is prohibited and subject to legal action under breach of IP and confidentiality clauses.</a:t>
            </a:r>
            <a:endParaRPr lang="en-US" sz="550" dirty="0"/>
          </a:p>
        </p:txBody>
      </p:sp>
      <p:sp>
        <p:nvSpPr>
          <p:cNvPr id="5" name="Shape 3"/>
          <p:cNvSpPr/>
          <p:nvPr/>
        </p:nvSpPr>
        <p:spPr>
          <a:xfrm>
            <a:off x="7095744" y="4764024"/>
            <a:ext cx="1883664" cy="347472"/>
          </a:xfrm>
          <a:prstGeom prst="rect">
            <a:avLst/>
          </a:prstGeom>
          <a:solidFill>
            <a:srgbClr val="FFFFFF"/>
          </a:solidFill>
          <a:ln w="6350">
            <a:solidFill>
              <a:srgbClr val="E2E8F0"/>
            </a:solidFill>
            <a:prstDash val="solid"/>
          </a:ln>
          <a:effectLst>
            <a:outerShdw blurRad="63500" dist="25400" dir="8100000" algn="bl" rotWithShape="0">
              <a:srgbClr val="000000">
                <a:alpha val="12000"/>
              </a:srgbClr>
            </a:outerShdw>
          </a:effectLst>
        </p:spPr>
      </p:sp>
      <p:sp>
        <p:nvSpPr>
          <p:cNvPr id="6" name="Text 4"/>
          <p:cNvSpPr/>
          <p:nvPr/>
        </p:nvSpPr>
        <p:spPr>
          <a:xfrm>
            <a:off x="7132320" y="4764024"/>
            <a:ext cx="493776" cy="347472"/>
          </a:xfrm>
          <a:prstGeom prst="rect">
            <a:avLst/>
          </a:prstGeom>
          <a:noFill/>
          <a:ln/>
        </p:spPr>
        <p:txBody>
          <a:bodyPr wrap="square" lIns="0" tIns="0" rIns="0" bIns="0" rtlCol="0" anchor="ctr"/>
          <a:lstStyle/>
          <a:p>
            <a:pPr marL="0" indent="0" algn="ctr">
              <a:buNone/>
            </a:pPr>
            <a:r>
              <a:rPr lang="en-US" sz="1600" b="1" dirty="0">
                <a:solidFill>
                  <a:srgbClr val="1B2763"/>
                </a:solidFill>
              </a:rPr>
              <a:t>BIA</a:t>
            </a:r>
            <a:endParaRPr lang="en-US" sz="1600" dirty="0"/>
          </a:p>
        </p:txBody>
      </p:sp>
      <p:sp>
        <p:nvSpPr>
          <p:cNvPr id="7" name="Shape 5"/>
          <p:cNvSpPr/>
          <p:nvPr/>
        </p:nvSpPr>
        <p:spPr>
          <a:xfrm>
            <a:off x="7653528" y="4800600"/>
            <a:ext cx="0" cy="256032"/>
          </a:xfrm>
          <a:prstGeom prst="line">
            <a:avLst/>
          </a:prstGeom>
          <a:noFill/>
          <a:ln w="10160">
            <a:solidFill>
              <a:srgbClr val="1B2763"/>
            </a:solidFill>
            <a:prstDash val="solid"/>
          </a:ln>
        </p:spPr>
      </p:sp>
      <p:sp>
        <p:nvSpPr>
          <p:cNvPr id="8" name="Text 6"/>
          <p:cNvSpPr/>
          <p:nvPr/>
        </p:nvSpPr>
        <p:spPr>
          <a:xfrm>
            <a:off x="7708392" y="4764024"/>
            <a:ext cx="1225296" cy="347472"/>
          </a:xfrm>
          <a:prstGeom prst="rect">
            <a:avLst/>
          </a:prstGeom>
          <a:noFill/>
          <a:ln/>
        </p:spPr>
        <p:txBody>
          <a:bodyPr wrap="square" lIns="0" tIns="0" rIns="0" bIns="0" rtlCol="0" anchor="ctr"/>
          <a:lstStyle/>
          <a:p>
            <a:pPr marL="0" indent="0" algn="l">
              <a:buNone/>
            </a:pPr>
            <a:r>
              <a:rPr lang="en-US" sz="550" b="1" dirty="0">
                <a:solidFill>
                  <a:srgbClr val="1B2763"/>
                </a:solidFill>
              </a:rPr>
              <a:t>BOSTON</a:t>
            </a:r>
            <a:endParaRPr lang="en-US" sz="550" dirty="0"/>
          </a:p>
          <a:p>
            <a:pPr marL="0" indent="0" algn="l">
              <a:buNone/>
            </a:pPr>
            <a:r>
              <a:rPr lang="en-US" sz="550" b="1" dirty="0">
                <a:solidFill>
                  <a:srgbClr val="1B2763"/>
                </a:solidFill>
              </a:rPr>
              <a:t>INSTITUTE OF</a:t>
            </a:r>
            <a:endParaRPr lang="en-US" sz="550" dirty="0"/>
          </a:p>
          <a:p>
            <a:pPr marL="0" indent="0" algn="l">
              <a:buNone/>
            </a:pPr>
            <a:r>
              <a:rPr lang="en-US" sz="550" b="1" dirty="0">
                <a:solidFill>
                  <a:srgbClr val="1B2763"/>
                </a:solidFill>
              </a:rPr>
              <a:t>ANALYTICS</a:t>
            </a:r>
            <a:endParaRPr lang="en-US" sz="550" dirty="0"/>
          </a:p>
        </p:txBody>
      </p:sp>
      <p:sp>
        <p:nvSpPr>
          <p:cNvPr id="9" name="Text 7"/>
          <p:cNvSpPr/>
          <p:nvPr/>
        </p:nvSpPr>
        <p:spPr>
          <a:xfrm>
            <a:off x="320040" y="786384"/>
            <a:ext cx="8485632" cy="237744"/>
          </a:xfrm>
          <a:prstGeom prst="rect">
            <a:avLst/>
          </a:prstGeom>
          <a:noFill/>
          <a:ln/>
        </p:spPr>
        <p:txBody>
          <a:bodyPr wrap="square" lIns="0" tIns="0" rIns="0" bIns="0" rtlCol="0" anchor="ctr"/>
          <a:lstStyle/>
          <a:p>
            <a:pPr marL="0" indent="0" algn="l">
              <a:buNone/>
            </a:pPr>
            <a:r>
              <a:rPr lang="en-US" sz="1050" dirty="0">
                <a:solidFill>
                  <a:srgbClr val="1E293B"/>
                </a:solidFill>
              </a:rPr>
              <a:t>The trained Random Forest reveals how much each RFM feature contributed to its predictions.</a:t>
            </a:r>
            <a:endParaRPr lang="en-US" sz="1050" dirty="0"/>
          </a:p>
        </p:txBody>
      </p:sp>
      <p:pic>
        <p:nvPicPr>
          <p:cNvPr id="10" name="Image 0" descr="/mnt/user-data/uploads/1773072721817_image.png"/>
          <p:cNvPicPr>
            <a:picLocks noChangeAspect="1"/>
          </p:cNvPicPr>
          <p:nvPr/>
        </p:nvPicPr>
        <p:blipFill>
          <a:blip r:embed="rId3"/>
          <a:srcRect/>
          <a:stretch/>
        </p:blipFill>
        <p:spPr>
          <a:xfrm>
            <a:off x="640080" y="1078992"/>
            <a:ext cx="7863840" cy="2670048"/>
          </a:xfrm>
          <a:prstGeom prst="rect">
            <a:avLst/>
          </a:prstGeom>
        </p:spPr>
      </p:pic>
      <p:sp>
        <p:nvSpPr>
          <p:cNvPr id="11" name="Shape 8"/>
          <p:cNvSpPr/>
          <p:nvPr/>
        </p:nvSpPr>
        <p:spPr>
          <a:xfrm>
            <a:off x="320040" y="3745655"/>
            <a:ext cx="2743200" cy="658368"/>
          </a:xfrm>
          <a:prstGeom prst="rect">
            <a:avLst/>
          </a:prstGeom>
          <a:solidFill>
            <a:srgbClr val="F5F7FA"/>
          </a:solidFill>
          <a:ln w="10160">
            <a:solidFill>
              <a:srgbClr val="1B2763"/>
            </a:solidFill>
            <a:prstDash val="solid"/>
          </a:ln>
        </p:spPr>
      </p:sp>
      <p:sp>
        <p:nvSpPr>
          <p:cNvPr id="12" name="Shape 9"/>
          <p:cNvSpPr/>
          <p:nvPr/>
        </p:nvSpPr>
        <p:spPr>
          <a:xfrm>
            <a:off x="320040" y="3745655"/>
            <a:ext cx="54864" cy="658368"/>
          </a:xfrm>
          <a:prstGeom prst="rect">
            <a:avLst/>
          </a:prstGeom>
          <a:solidFill>
            <a:srgbClr val="1B2763"/>
          </a:solidFill>
          <a:ln w="12700">
            <a:solidFill>
              <a:srgbClr val="1B2763"/>
            </a:solidFill>
            <a:prstDash val="solid"/>
          </a:ln>
        </p:spPr>
      </p:sp>
      <p:sp>
        <p:nvSpPr>
          <p:cNvPr id="13" name="Text 10"/>
          <p:cNvSpPr/>
          <p:nvPr/>
        </p:nvSpPr>
        <p:spPr>
          <a:xfrm>
            <a:off x="448056" y="3754799"/>
            <a:ext cx="2542032" cy="237744"/>
          </a:xfrm>
          <a:prstGeom prst="rect">
            <a:avLst/>
          </a:prstGeom>
          <a:noFill/>
          <a:ln/>
        </p:spPr>
        <p:txBody>
          <a:bodyPr wrap="square" lIns="0" tIns="0" rIns="0" bIns="0" rtlCol="0" anchor="ctr"/>
          <a:lstStyle/>
          <a:p>
            <a:pPr marL="0" indent="0" algn="l">
              <a:buNone/>
            </a:pPr>
            <a:r>
              <a:rPr lang="en-US" sz="1000" b="1" dirty="0">
                <a:solidFill>
                  <a:srgbClr val="1B2763"/>
                </a:solidFill>
              </a:rPr>
              <a:t>Frequency  ~34%</a:t>
            </a:r>
            <a:endParaRPr lang="en-US" sz="1000" dirty="0"/>
          </a:p>
        </p:txBody>
      </p:sp>
      <p:sp>
        <p:nvSpPr>
          <p:cNvPr id="14" name="Text 11"/>
          <p:cNvSpPr/>
          <p:nvPr/>
        </p:nvSpPr>
        <p:spPr>
          <a:xfrm>
            <a:off x="448056" y="4001687"/>
            <a:ext cx="2542032" cy="384048"/>
          </a:xfrm>
          <a:prstGeom prst="rect">
            <a:avLst/>
          </a:prstGeom>
          <a:noFill/>
          <a:ln/>
        </p:spPr>
        <p:txBody>
          <a:bodyPr wrap="square" lIns="0" tIns="0" rIns="0" bIns="0" rtlCol="0" anchor="t"/>
          <a:lstStyle/>
          <a:p>
            <a:pPr marL="0" indent="0" algn="l">
              <a:buNone/>
            </a:pPr>
            <a:r>
              <a:rPr lang="en-US" sz="800" dirty="0">
                <a:solidFill>
                  <a:srgbClr val="1E293B"/>
                </a:solidFill>
              </a:rPr>
              <a:t>How often a customer orders is the #1 signal. High-frequency buyers are Loyal Regulars or VIPs.</a:t>
            </a:r>
            <a:endParaRPr lang="en-US" sz="800" dirty="0"/>
          </a:p>
        </p:txBody>
      </p:sp>
      <p:sp>
        <p:nvSpPr>
          <p:cNvPr id="15" name="Shape 12"/>
          <p:cNvSpPr/>
          <p:nvPr/>
        </p:nvSpPr>
        <p:spPr>
          <a:xfrm>
            <a:off x="3172968" y="3745655"/>
            <a:ext cx="2743200" cy="658368"/>
          </a:xfrm>
          <a:prstGeom prst="rect">
            <a:avLst/>
          </a:prstGeom>
          <a:solidFill>
            <a:srgbClr val="F5F7FA"/>
          </a:solidFill>
          <a:ln w="10160">
            <a:solidFill>
              <a:srgbClr val="6B21A8"/>
            </a:solidFill>
            <a:prstDash val="solid"/>
          </a:ln>
        </p:spPr>
      </p:sp>
      <p:sp>
        <p:nvSpPr>
          <p:cNvPr id="16" name="Shape 13"/>
          <p:cNvSpPr/>
          <p:nvPr/>
        </p:nvSpPr>
        <p:spPr>
          <a:xfrm>
            <a:off x="3172968" y="3745655"/>
            <a:ext cx="54864" cy="658368"/>
          </a:xfrm>
          <a:prstGeom prst="rect">
            <a:avLst/>
          </a:prstGeom>
          <a:solidFill>
            <a:srgbClr val="6B21A8"/>
          </a:solidFill>
          <a:ln w="12700">
            <a:solidFill>
              <a:srgbClr val="6B21A8"/>
            </a:solidFill>
            <a:prstDash val="solid"/>
          </a:ln>
        </p:spPr>
      </p:sp>
      <p:sp>
        <p:nvSpPr>
          <p:cNvPr id="17" name="Text 14"/>
          <p:cNvSpPr/>
          <p:nvPr/>
        </p:nvSpPr>
        <p:spPr>
          <a:xfrm>
            <a:off x="3300984" y="3754799"/>
            <a:ext cx="2542032" cy="237744"/>
          </a:xfrm>
          <a:prstGeom prst="rect">
            <a:avLst/>
          </a:prstGeom>
          <a:noFill/>
          <a:ln/>
        </p:spPr>
        <p:txBody>
          <a:bodyPr wrap="square" lIns="0" tIns="0" rIns="0" bIns="0" rtlCol="0" anchor="ctr"/>
          <a:lstStyle/>
          <a:p>
            <a:pPr marL="0" indent="0" algn="l">
              <a:buNone/>
            </a:pPr>
            <a:r>
              <a:rPr lang="en-US" sz="1000" b="1" dirty="0">
                <a:solidFill>
                  <a:srgbClr val="6B21A8"/>
                </a:solidFill>
              </a:rPr>
              <a:t>Monetary  ~33%</a:t>
            </a:r>
            <a:endParaRPr lang="en-US" sz="1000" dirty="0"/>
          </a:p>
        </p:txBody>
      </p:sp>
      <p:sp>
        <p:nvSpPr>
          <p:cNvPr id="18" name="Text 15"/>
          <p:cNvSpPr/>
          <p:nvPr/>
        </p:nvSpPr>
        <p:spPr>
          <a:xfrm>
            <a:off x="3300984" y="4001687"/>
            <a:ext cx="2542032" cy="384048"/>
          </a:xfrm>
          <a:prstGeom prst="rect">
            <a:avLst/>
          </a:prstGeom>
          <a:noFill/>
          <a:ln/>
        </p:spPr>
        <p:txBody>
          <a:bodyPr wrap="square" lIns="0" tIns="0" rIns="0" bIns="0" rtlCol="0" anchor="t"/>
          <a:lstStyle/>
          <a:p>
            <a:pPr marL="0" indent="0" algn="l">
              <a:buNone/>
            </a:pPr>
            <a:r>
              <a:rPr lang="en-US" sz="800" dirty="0">
                <a:solidFill>
                  <a:srgbClr val="1E293B"/>
                </a:solidFill>
              </a:rPr>
              <a:t>Total spend closely tracks frequency. Near-equal weight validates the VIP monetary isolation decision.</a:t>
            </a:r>
            <a:endParaRPr lang="en-US" sz="800" dirty="0"/>
          </a:p>
        </p:txBody>
      </p:sp>
      <p:sp>
        <p:nvSpPr>
          <p:cNvPr id="19" name="Shape 16"/>
          <p:cNvSpPr/>
          <p:nvPr/>
        </p:nvSpPr>
        <p:spPr>
          <a:xfrm>
            <a:off x="6025896" y="3745655"/>
            <a:ext cx="2743200" cy="658368"/>
          </a:xfrm>
          <a:prstGeom prst="rect">
            <a:avLst/>
          </a:prstGeom>
          <a:solidFill>
            <a:srgbClr val="F5F7FA"/>
          </a:solidFill>
          <a:ln w="10160">
            <a:solidFill>
              <a:srgbClr val="B91C1C"/>
            </a:solidFill>
            <a:prstDash val="solid"/>
          </a:ln>
        </p:spPr>
      </p:sp>
      <p:sp>
        <p:nvSpPr>
          <p:cNvPr id="20" name="Shape 17"/>
          <p:cNvSpPr/>
          <p:nvPr/>
        </p:nvSpPr>
        <p:spPr>
          <a:xfrm>
            <a:off x="6025896" y="3745655"/>
            <a:ext cx="54864" cy="658368"/>
          </a:xfrm>
          <a:prstGeom prst="rect">
            <a:avLst/>
          </a:prstGeom>
          <a:solidFill>
            <a:srgbClr val="B91C1C"/>
          </a:solidFill>
          <a:ln w="12700">
            <a:solidFill>
              <a:srgbClr val="B91C1C"/>
            </a:solidFill>
            <a:prstDash val="solid"/>
          </a:ln>
        </p:spPr>
      </p:sp>
      <p:sp>
        <p:nvSpPr>
          <p:cNvPr id="21" name="Text 18"/>
          <p:cNvSpPr/>
          <p:nvPr/>
        </p:nvSpPr>
        <p:spPr>
          <a:xfrm>
            <a:off x="6153912" y="3754799"/>
            <a:ext cx="2542032" cy="237744"/>
          </a:xfrm>
          <a:prstGeom prst="rect">
            <a:avLst/>
          </a:prstGeom>
          <a:noFill/>
          <a:ln/>
        </p:spPr>
        <p:txBody>
          <a:bodyPr wrap="square" lIns="0" tIns="0" rIns="0" bIns="0" rtlCol="0" anchor="ctr"/>
          <a:lstStyle/>
          <a:p>
            <a:pPr marL="0" indent="0" algn="l">
              <a:buNone/>
            </a:pPr>
            <a:r>
              <a:rPr lang="en-US" sz="1000" b="1" dirty="0">
                <a:solidFill>
                  <a:srgbClr val="B91C1C"/>
                </a:solidFill>
              </a:rPr>
              <a:t>Recency  ~32%</a:t>
            </a:r>
            <a:endParaRPr lang="en-US" sz="1000" dirty="0"/>
          </a:p>
        </p:txBody>
      </p:sp>
      <p:sp>
        <p:nvSpPr>
          <p:cNvPr id="22" name="Text 19"/>
          <p:cNvSpPr/>
          <p:nvPr/>
        </p:nvSpPr>
        <p:spPr>
          <a:xfrm>
            <a:off x="6153912" y="4001687"/>
            <a:ext cx="2542032" cy="384048"/>
          </a:xfrm>
          <a:prstGeom prst="rect">
            <a:avLst/>
          </a:prstGeom>
          <a:noFill/>
          <a:ln/>
        </p:spPr>
        <p:txBody>
          <a:bodyPr wrap="square" lIns="0" tIns="0" rIns="0" bIns="0" rtlCol="0" anchor="t"/>
          <a:lstStyle/>
          <a:p>
            <a:pPr marL="0" indent="0" algn="l">
              <a:buNone/>
            </a:pPr>
            <a:r>
              <a:rPr lang="en-US" sz="800" dirty="0">
                <a:solidFill>
                  <a:srgbClr val="1E293B"/>
                </a:solidFill>
              </a:rPr>
              <a:t>Days since last purchase flags At-Risk churners — high recency days = customer drifting away silently.</a:t>
            </a:r>
            <a:endParaRPr lang="en-US" sz="800" dirty="0"/>
          </a:p>
        </p:txBody>
      </p:sp>
      <p:sp>
        <p:nvSpPr>
          <p:cNvPr id="23" name="Shape 20"/>
          <p:cNvSpPr/>
          <p:nvPr/>
        </p:nvSpPr>
        <p:spPr>
          <a:xfrm>
            <a:off x="320040" y="4427730"/>
            <a:ext cx="8458200" cy="310896"/>
          </a:xfrm>
          <a:prstGeom prst="rect">
            <a:avLst/>
          </a:prstGeom>
          <a:solidFill>
            <a:srgbClr val="1B2763"/>
          </a:solidFill>
          <a:ln w="12700">
            <a:solidFill>
              <a:srgbClr val="1B2763"/>
            </a:solidFill>
            <a:prstDash val="solid"/>
          </a:ln>
        </p:spPr>
      </p:sp>
      <p:sp>
        <p:nvSpPr>
          <p:cNvPr id="24" name="Text 21"/>
          <p:cNvSpPr/>
          <p:nvPr/>
        </p:nvSpPr>
        <p:spPr>
          <a:xfrm>
            <a:off x="365760" y="4474127"/>
            <a:ext cx="8394192" cy="256032"/>
          </a:xfrm>
          <a:prstGeom prst="rect">
            <a:avLst/>
          </a:prstGeom>
          <a:noFill/>
          <a:ln/>
        </p:spPr>
        <p:txBody>
          <a:bodyPr wrap="square" lIns="0" tIns="0" rIns="0" bIns="0" rtlCol="0" anchor="ctr"/>
          <a:lstStyle/>
          <a:p>
            <a:pPr marL="0" indent="0" algn="ctr">
              <a:buNone/>
            </a:pPr>
            <a:r>
              <a:rPr lang="en-US" sz="950" b="1" dirty="0">
                <a:solidFill>
                  <a:srgbClr val="FFFFFF"/>
                </a:solidFill>
              </a:rPr>
              <a:t>✓  All 3 features contribute almost equally (~33% each) — model is balanced, unbiased &amp; not over-reliant on any single metric</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4E">
              <a:alpha val="40000"/>
            </a:srgbClr>
          </a:solidFill>
          <a:ln w="12700">
            <a:solidFill>
              <a:srgbClr val="0D1B4E"/>
            </a:solidFill>
            <a:prstDash val="solid"/>
          </a:ln>
        </p:spPr>
      </p:sp>
      <p:sp>
        <p:nvSpPr>
          <p:cNvPr id="3" name="Shape 1"/>
          <p:cNvSpPr/>
          <p:nvPr/>
        </p:nvSpPr>
        <p:spPr>
          <a:xfrm>
            <a:off x="1645920" y="1600200"/>
            <a:ext cx="5852160" cy="2194560"/>
          </a:xfrm>
          <a:prstGeom prst="rect">
            <a:avLst/>
          </a:prstGeom>
          <a:solidFill>
            <a:srgbClr val="0A1540"/>
          </a:solidFill>
          <a:ln w="12700">
            <a:solidFill>
              <a:srgbClr val="0A1540"/>
            </a:solidFill>
            <a:prstDash val="solid"/>
          </a:ln>
        </p:spPr>
      </p:sp>
      <p:sp>
        <p:nvSpPr>
          <p:cNvPr id="4" name="Text 2"/>
          <p:cNvSpPr/>
          <p:nvPr/>
        </p:nvSpPr>
        <p:spPr>
          <a:xfrm>
            <a:off x="1645920" y="1691640"/>
            <a:ext cx="5852160" cy="10515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1645920" y="2834640"/>
            <a:ext cx="5852160" cy="566928"/>
          </a:xfrm>
          <a:prstGeom prst="rect">
            <a:avLst/>
          </a:prstGeom>
          <a:noFill/>
          <a:ln/>
        </p:spPr>
        <p:txBody>
          <a:bodyPr wrap="square" lIns="0" tIns="0" rIns="0" bIns="0" rtlCol="0" anchor="ctr"/>
          <a:lstStyle/>
          <a:p>
            <a:pPr marL="0" indent="0" algn="ctr">
              <a:buNone/>
            </a:pPr>
            <a:r>
              <a:rPr lang="en-US" sz="1100" dirty="0">
                <a:solidFill>
                  <a:srgbClr val="A0C8FF"/>
                </a:solidFill>
              </a:rPr>
              <a:t>Shariq Adnan   |   Data Science with AI   |   Boston Institute of Analytics</a:t>
            </a:r>
            <a:endParaRPr lang="en-US" sz="1100" dirty="0"/>
          </a:p>
        </p:txBody>
      </p:sp>
      <p:sp>
        <p:nvSpPr>
          <p:cNvPr id="6" name="Text 4"/>
          <p:cNvSpPr/>
          <p:nvPr/>
        </p:nvSpPr>
        <p:spPr>
          <a:xfrm>
            <a:off x="274320" y="4828032"/>
            <a:ext cx="8595360" cy="201168"/>
          </a:xfrm>
          <a:prstGeom prst="rect">
            <a:avLst/>
          </a:prstGeom>
          <a:noFill/>
          <a:ln/>
        </p:spPr>
        <p:txBody>
          <a:bodyPr wrap="square" lIns="0" tIns="0" rIns="0" bIns="0" rtlCol="0" anchor="ctr"/>
          <a:lstStyle/>
          <a:p>
            <a:pPr marL="0" indent="0" algn="ctr">
              <a:buNone/>
            </a:pPr>
            <a:r>
              <a:rPr lang="en-US" sz="600" i="1" dirty="0">
                <a:solidFill>
                  <a:srgbClr val="A0AEC0"/>
                </a:solidFill>
              </a:rPr>
              <a:t>CONFIDENTIAL: The information in this document belongs to Boston Institute of Analytics LLC. Any unauthorized sharing of this material is prohibited and subject to legal action under breach of IP and confidentiality clauses.</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1358</Words>
  <Application>Microsoft Office PowerPoint</Application>
  <PresentationFormat>On-screen Show (16:9)</PresentationFormat>
  <Paragraphs>254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Customer Market Segmentation</dc:title>
  <dc:subject>PptxGenJS Presentation</dc:subject>
  <dc:creator>Shariq Adnan</dc:creator>
  <cp:lastModifiedBy>Shariq Adnan</cp:lastModifiedBy>
  <cp:revision>10</cp:revision>
  <dcterms:created xsi:type="dcterms:W3CDTF">2026-03-09T17:01:17Z</dcterms:created>
  <dcterms:modified xsi:type="dcterms:W3CDTF">2026-03-09T17:30:29Z</dcterms:modified>
</cp:coreProperties>
</file>